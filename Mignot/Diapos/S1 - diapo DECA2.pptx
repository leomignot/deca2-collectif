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777" r:id="rId1"/>
  </p:sldMasterIdLst>
  <p:notesMasterIdLst>
    <p:notesMasterId r:id="rId17"/>
  </p:notesMasterIdLst>
  <p:sldIdLst>
    <p:sldId id="266" r:id="rId2"/>
    <p:sldId id="257" r:id="rId3"/>
    <p:sldId id="268" r:id="rId4"/>
    <p:sldId id="272" r:id="rId5"/>
    <p:sldId id="273" r:id="rId6"/>
    <p:sldId id="274" r:id="rId7"/>
    <p:sldId id="275" r:id="rId8"/>
    <p:sldId id="307" r:id="rId9"/>
    <p:sldId id="308" r:id="rId10"/>
    <p:sldId id="309" r:id="rId11"/>
    <p:sldId id="277" r:id="rId12"/>
    <p:sldId id="267" r:id="rId13"/>
    <p:sldId id="276" r:id="rId14"/>
    <p:sldId id="278" r:id="rId15"/>
    <p:sldId id="269" r:id="rId16"/>
  </p:sldIdLst>
  <p:sldSz cx="12192000" cy="6858000"/>
  <p:notesSz cx="6858000" cy="9144000"/>
  <p:defaultTextStyle>
    <a:defPPr>
      <a:defRPr lang="fr-F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93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Style moyen 2 - Accentuation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7053"/>
    <p:restoredTop sz="96301"/>
  </p:normalViewPr>
  <p:slideViewPr>
    <p:cSldViewPr snapToGrid="0">
      <p:cViewPr varScale="1">
        <p:scale>
          <a:sx n="120" d="100"/>
          <a:sy n="120" d="100"/>
        </p:scale>
        <p:origin x="184" y="23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tableStyles" Target="tableStyle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en-tête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3" name="Espace réservé de la date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CD25262-7ADE-304A-B1BB-4A7EDACB30E0}" type="datetimeFigureOut">
              <a:rPr lang="fr-FR" smtClean="0"/>
              <a:t>06/01/2026</a:t>
            </a:fld>
            <a:endParaRPr lang="fr-FR"/>
          </a:p>
        </p:txBody>
      </p:sp>
      <p:sp>
        <p:nvSpPr>
          <p:cNvPr id="4" name="Espace réservé de l'image des diapositives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fr-FR"/>
          </a:p>
        </p:txBody>
      </p:sp>
      <p:sp>
        <p:nvSpPr>
          <p:cNvPr id="5" name="Espace réservé des note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98B4F984-2469-954B-9FEF-0AD028A2AC3B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62285797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g"/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Diapositive de tit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8" name="Rectangle 7"/>
          <p:cNvSpPr/>
          <p:nvPr/>
        </p:nvSpPr>
        <p:spPr>
          <a:xfrm>
            <a:off x="15" y="6169025"/>
            <a:ext cx="12188825" cy="230226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097280" y="758952"/>
            <a:ext cx="10058400" cy="3566160"/>
          </a:xfrm>
        </p:spPr>
        <p:txBody>
          <a:bodyPr anchor="b">
            <a:normAutofit/>
          </a:bodyPr>
          <a:lstStyle>
            <a:lvl1pPr algn="l">
              <a:lnSpc>
                <a:spcPct val="85000"/>
              </a:lnSpc>
              <a:defRPr sz="8000" spc="-50" baseline="0">
                <a:solidFill>
                  <a:schemeClr val="tx1">
                    <a:lumMod val="85000"/>
                    <a:lumOff val="15000"/>
                  </a:schemeClr>
                </a:solidFill>
              </a:defRPr>
            </a:lvl1pPr>
          </a:lstStyle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097280" y="4817879"/>
            <a:ext cx="10058400" cy="858753"/>
          </a:xfrm>
        </p:spPr>
        <p:txBody>
          <a:bodyPr lIns="91440" rIns="91440">
            <a:normAutofit/>
          </a:bodyPr>
          <a:lstStyle>
            <a:lvl1pPr marL="0" indent="0" algn="l">
              <a:buNone/>
              <a:defRPr sz="2400" cap="all" spc="200" baseline="0">
                <a:solidFill>
                  <a:schemeClr val="tx2"/>
                </a:solidFill>
                <a:latin typeface="+mj-lt"/>
              </a:defRPr>
            </a:lvl1pPr>
            <a:lvl2pPr marL="457200" indent="0" algn="ctr">
              <a:buNone/>
              <a:defRPr sz="2400"/>
            </a:lvl2pPr>
            <a:lvl3pPr marL="914400" indent="0" algn="ctr">
              <a:buNone/>
              <a:defRPr sz="2400"/>
            </a:lvl3pPr>
            <a:lvl4pPr marL="1371600" indent="0" algn="ctr">
              <a:buNone/>
              <a:defRPr sz="2000"/>
            </a:lvl4pPr>
            <a:lvl5pPr marL="1828800" indent="0" algn="ctr">
              <a:buNone/>
              <a:defRPr sz="2000"/>
            </a:lvl5pPr>
            <a:lvl6pPr marL="2286000" indent="0" algn="ctr">
              <a:buNone/>
              <a:defRPr sz="2000"/>
            </a:lvl6pPr>
            <a:lvl7pPr marL="2743200" indent="0" algn="ctr">
              <a:buNone/>
              <a:defRPr sz="2000"/>
            </a:lvl7pPr>
            <a:lvl8pPr marL="3200400" indent="0" algn="ctr">
              <a:buNone/>
              <a:defRPr sz="2000"/>
            </a:lvl8pPr>
            <a:lvl9pPr marL="3657600" indent="0" algn="ctr">
              <a:buNone/>
              <a:defRPr sz="2000"/>
            </a:lvl9pPr>
          </a:lstStyle>
          <a:p>
            <a:r>
              <a:rPr lang="fr-FR"/>
              <a:t>Modifiez le style des sous-titres du masque</a:t>
            </a:r>
            <a:endParaRPr lang="en-US" dirty="0"/>
          </a:p>
        </p:txBody>
      </p:sp>
      <p:cxnSp>
        <p:nvCxnSpPr>
          <p:cNvPr id="9" name="Straight Connector 8"/>
          <p:cNvCxnSpPr/>
          <p:nvPr/>
        </p:nvCxnSpPr>
        <p:spPr>
          <a:xfrm>
            <a:off x="1207658" y="4487335"/>
            <a:ext cx="9824409" cy="0"/>
          </a:xfrm>
          <a:prstGeom prst="line">
            <a:avLst/>
          </a:prstGeom>
          <a:ln w="38100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6" name="Image 15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-10790"/>
            <a:ext cx="2878667" cy="1046788"/>
          </a:xfrm>
          <a:prstGeom prst="rect">
            <a:avLst/>
          </a:prstGeom>
        </p:spPr>
      </p:pic>
      <p:sp>
        <p:nvSpPr>
          <p:cNvPr id="11" name="ZoneTexte 10"/>
          <p:cNvSpPr txBox="1"/>
          <p:nvPr/>
        </p:nvSpPr>
        <p:spPr>
          <a:xfrm>
            <a:off x="85725" y="6490126"/>
            <a:ext cx="7829550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200" dirty="0">
                <a:solidFill>
                  <a:schemeClr val="bg1"/>
                </a:solidFill>
                <a:latin typeface="Myriad Pro Light" panose="020B0403030403020204" pitchFamily="34" charset="0"/>
                <a:ea typeface="Nothing You Could Do" panose="02000000000000000000" pitchFamily="2" charset="0"/>
              </a:rPr>
              <a:t>Sciences Po Bordeaux - 11 allée Ausone | Domaine universitaire – 33607 Pessac Cedex - www.sciencespobordeaux.fr</a:t>
            </a:r>
          </a:p>
        </p:txBody>
      </p:sp>
      <p:sp>
        <p:nvSpPr>
          <p:cNvPr id="12" name="Espace réservé du texte 11"/>
          <p:cNvSpPr>
            <a:spLocks noGrp="1"/>
          </p:cNvSpPr>
          <p:nvPr>
            <p:ph type="body" sz="quarter" idx="10"/>
          </p:nvPr>
        </p:nvSpPr>
        <p:spPr>
          <a:xfrm>
            <a:off x="85725" y="6169025"/>
            <a:ext cx="7178675" cy="230188"/>
          </a:xfrm>
        </p:spPr>
        <p:txBody>
          <a:bodyPr>
            <a:noAutofit/>
          </a:bodyPr>
          <a:lstStyle>
            <a:lvl1pPr>
              <a:defRPr sz="1100">
                <a:solidFill>
                  <a:schemeClr val="bg1"/>
                </a:solidFill>
                <a:latin typeface="+mn-lt"/>
              </a:defRPr>
            </a:lvl1pPr>
          </a:lstStyle>
          <a:p>
            <a:pPr lvl="0"/>
            <a:r>
              <a:rPr lang="fr-FR"/>
              <a:t>Cliquez pour modifier les styles du texte du masque</a:t>
            </a:r>
          </a:p>
        </p:txBody>
      </p:sp>
    </p:spTree>
    <p:extLst>
      <p:ext uri="{BB962C8B-B14F-4D97-AF65-F5344CB8AC3E}">
        <p14:creationId xmlns:p14="http://schemas.microsoft.com/office/powerpoint/2010/main" val="89612043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re et conten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9" name="Title 1"/>
          <p:cNvSpPr>
            <a:spLocks noGrp="1"/>
          </p:cNvSpPr>
          <p:nvPr>
            <p:ph type="title"/>
          </p:nvPr>
        </p:nvSpPr>
        <p:spPr>
          <a:xfrm>
            <a:off x="1097280" y="446755"/>
            <a:ext cx="10058400" cy="1450757"/>
          </a:xfrm>
        </p:spPr>
        <p:txBody>
          <a:bodyPr/>
          <a:lstStyle/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10" name="Rectangle 9"/>
          <p:cNvSpPr/>
          <p:nvPr/>
        </p:nvSpPr>
        <p:spPr>
          <a:xfrm>
            <a:off x="15" y="6169025"/>
            <a:ext cx="12188825" cy="230226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fr-FR"/>
          </a:p>
        </p:txBody>
      </p:sp>
      <p:sp>
        <p:nvSpPr>
          <p:cNvPr id="11" name="Espace réservé du texte 11"/>
          <p:cNvSpPr>
            <a:spLocks noGrp="1"/>
          </p:cNvSpPr>
          <p:nvPr>
            <p:ph type="body" sz="quarter" idx="10"/>
          </p:nvPr>
        </p:nvSpPr>
        <p:spPr>
          <a:xfrm>
            <a:off x="85725" y="6169025"/>
            <a:ext cx="7178675" cy="230188"/>
          </a:xfrm>
        </p:spPr>
        <p:txBody>
          <a:bodyPr>
            <a:noAutofit/>
          </a:bodyPr>
          <a:lstStyle>
            <a:lvl1pPr>
              <a:defRPr sz="1100">
                <a:solidFill>
                  <a:schemeClr val="bg1"/>
                </a:solidFill>
                <a:latin typeface="+mn-lt"/>
              </a:defRPr>
            </a:lvl1pPr>
          </a:lstStyle>
          <a:p>
            <a:pPr lvl="0"/>
            <a:r>
              <a:rPr lang="fr-FR"/>
              <a:t>Cliquez pour modifier les styles du texte du masque</a:t>
            </a:r>
          </a:p>
        </p:txBody>
      </p:sp>
    </p:spTree>
    <p:extLst>
      <p:ext uri="{BB962C8B-B14F-4D97-AF65-F5344CB8AC3E}">
        <p14:creationId xmlns:p14="http://schemas.microsoft.com/office/powerpoint/2010/main" val="142964083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Titre de section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fr-F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97280" y="758952"/>
            <a:ext cx="10058400" cy="3566160"/>
          </a:xfrm>
        </p:spPr>
        <p:txBody>
          <a:bodyPr anchor="b" anchorCtr="0">
            <a:normAutofit/>
          </a:bodyPr>
          <a:lstStyle>
            <a:lvl1pPr>
              <a:lnSpc>
                <a:spcPct val="85000"/>
              </a:lnSpc>
              <a:defRPr sz="8000" b="0">
                <a:solidFill>
                  <a:schemeClr val="tx1">
                    <a:lumMod val="85000"/>
                    <a:lumOff val="15000"/>
                  </a:schemeClr>
                </a:solidFill>
              </a:defRPr>
            </a:lvl1pPr>
          </a:lstStyle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97280" y="4453128"/>
            <a:ext cx="10058400" cy="1143000"/>
          </a:xfrm>
        </p:spPr>
        <p:txBody>
          <a:bodyPr lIns="91440" rIns="91440" anchor="t" anchorCtr="0">
            <a:normAutofit/>
          </a:bodyPr>
          <a:lstStyle>
            <a:lvl1pPr marL="0" indent="0">
              <a:buNone/>
              <a:defRPr sz="2400" cap="all" spc="200" baseline="0">
                <a:solidFill>
                  <a:schemeClr val="tx2"/>
                </a:solidFill>
                <a:latin typeface="+mj-lt"/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cxnSp>
        <p:nvCxnSpPr>
          <p:cNvPr id="9" name="Straight Connector 8"/>
          <p:cNvCxnSpPr/>
          <p:nvPr/>
        </p:nvCxnSpPr>
        <p:spPr>
          <a:xfrm>
            <a:off x="1207658" y="4343400"/>
            <a:ext cx="9875520" cy="0"/>
          </a:xfrm>
          <a:prstGeom prst="line">
            <a:avLst/>
          </a:prstGeom>
          <a:ln w="63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1" name="Image 10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-10790"/>
            <a:ext cx="2878667" cy="1046788"/>
          </a:xfrm>
          <a:prstGeom prst="rect">
            <a:avLst/>
          </a:prstGeom>
        </p:spPr>
      </p:pic>
      <p:sp>
        <p:nvSpPr>
          <p:cNvPr id="12" name="ZoneTexte 11"/>
          <p:cNvSpPr txBox="1"/>
          <p:nvPr/>
        </p:nvSpPr>
        <p:spPr>
          <a:xfrm>
            <a:off x="85725" y="6490126"/>
            <a:ext cx="7829550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200" dirty="0">
                <a:solidFill>
                  <a:schemeClr val="bg1"/>
                </a:solidFill>
                <a:latin typeface="Myriad Pro Light" panose="020B0403030403020204" pitchFamily="34" charset="0"/>
                <a:ea typeface="Nothing You Could Do" panose="02000000000000000000" pitchFamily="2" charset="0"/>
              </a:rPr>
              <a:t>Sciences Po Bordeaux - 11 allée Ausone | Domaine universitaire – 33607 Pessac Cedex - www.sciencespobordeaux.fr</a:t>
            </a:r>
          </a:p>
        </p:txBody>
      </p:sp>
      <p:sp>
        <p:nvSpPr>
          <p:cNvPr id="15" name="Rectangle 14"/>
          <p:cNvSpPr/>
          <p:nvPr/>
        </p:nvSpPr>
        <p:spPr>
          <a:xfrm>
            <a:off x="15" y="6169025"/>
            <a:ext cx="12188825" cy="230226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fr-FR"/>
          </a:p>
        </p:txBody>
      </p:sp>
      <p:sp>
        <p:nvSpPr>
          <p:cNvPr id="16" name="Espace réservé du texte 11"/>
          <p:cNvSpPr>
            <a:spLocks noGrp="1"/>
          </p:cNvSpPr>
          <p:nvPr>
            <p:ph type="body" sz="quarter" idx="10"/>
          </p:nvPr>
        </p:nvSpPr>
        <p:spPr>
          <a:xfrm>
            <a:off x="85725" y="6169025"/>
            <a:ext cx="7178675" cy="230188"/>
          </a:xfrm>
        </p:spPr>
        <p:txBody>
          <a:bodyPr>
            <a:noAutofit/>
          </a:bodyPr>
          <a:lstStyle>
            <a:lvl1pPr>
              <a:defRPr sz="1100">
                <a:solidFill>
                  <a:schemeClr val="bg1"/>
                </a:solidFill>
                <a:latin typeface="+mn-lt"/>
              </a:defRPr>
            </a:lvl1pPr>
          </a:lstStyle>
          <a:p>
            <a:pPr lvl="0"/>
            <a:r>
              <a:rPr lang="fr-FR"/>
              <a:t>Cliquez pour modifier les styles du texte du masque</a:t>
            </a:r>
          </a:p>
        </p:txBody>
      </p:sp>
    </p:spTree>
    <p:extLst>
      <p:ext uri="{BB962C8B-B14F-4D97-AF65-F5344CB8AC3E}">
        <p14:creationId xmlns:p14="http://schemas.microsoft.com/office/powerpoint/2010/main" val="172093048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ux contenu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/>
          <p:cNvSpPr>
            <a:spLocks noGrp="1"/>
          </p:cNvSpPr>
          <p:nvPr>
            <p:ph type="title"/>
          </p:nvPr>
        </p:nvSpPr>
        <p:spPr>
          <a:xfrm>
            <a:off x="1097280" y="447470"/>
            <a:ext cx="10058400" cy="1450757"/>
          </a:xfrm>
        </p:spPr>
        <p:txBody>
          <a:bodyPr/>
          <a:lstStyle/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097278" y="2252132"/>
            <a:ext cx="4937760" cy="3616961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217920" y="2252131"/>
            <a:ext cx="4937760" cy="3616963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11" name="Rectangle 10"/>
          <p:cNvSpPr/>
          <p:nvPr/>
        </p:nvSpPr>
        <p:spPr>
          <a:xfrm>
            <a:off x="15" y="6169025"/>
            <a:ext cx="12188825" cy="230226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fr-FR"/>
          </a:p>
        </p:txBody>
      </p:sp>
      <p:sp>
        <p:nvSpPr>
          <p:cNvPr id="12" name="Espace réservé du texte 11"/>
          <p:cNvSpPr>
            <a:spLocks noGrp="1"/>
          </p:cNvSpPr>
          <p:nvPr>
            <p:ph type="body" sz="quarter" idx="10"/>
          </p:nvPr>
        </p:nvSpPr>
        <p:spPr>
          <a:xfrm>
            <a:off x="85725" y="6169025"/>
            <a:ext cx="7178675" cy="230188"/>
          </a:xfrm>
        </p:spPr>
        <p:txBody>
          <a:bodyPr>
            <a:noAutofit/>
          </a:bodyPr>
          <a:lstStyle>
            <a:lvl1pPr>
              <a:defRPr sz="1100">
                <a:solidFill>
                  <a:schemeClr val="bg1"/>
                </a:solidFill>
                <a:latin typeface="+mn-lt"/>
              </a:defRPr>
            </a:lvl1pPr>
          </a:lstStyle>
          <a:p>
            <a:pPr lvl="0"/>
            <a:r>
              <a:rPr lang="fr-FR"/>
              <a:t>Cliquez pour modifier les styles du texte du masque</a:t>
            </a:r>
          </a:p>
        </p:txBody>
      </p:sp>
    </p:spTree>
    <p:extLst>
      <p:ext uri="{BB962C8B-B14F-4D97-AF65-F5344CB8AC3E}">
        <p14:creationId xmlns:p14="http://schemas.microsoft.com/office/powerpoint/2010/main" val="349301401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mpara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9"/>
          <p:cNvSpPr>
            <a:spLocks noGrp="1"/>
          </p:cNvSpPr>
          <p:nvPr>
            <p:ph type="title"/>
          </p:nvPr>
        </p:nvSpPr>
        <p:spPr>
          <a:xfrm>
            <a:off x="1097280" y="447469"/>
            <a:ext cx="10058400" cy="1450757"/>
          </a:xfrm>
        </p:spPr>
        <p:txBody>
          <a:bodyPr/>
          <a:lstStyle/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97280" y="2239594"/>
            <a:ext cx="4937760" cy="736282"/>
          </a:xfrm>
        </p:spPr>
        <p:txBody>
          <a:bodyPr lIns="91440" rIns="91440" anchor="ctr">
            <a:normAutofit/>
          </a:bodyPr>
          <a:lstStyle>
            <a:lvl1pPr marL="0" indent="0">
              <a:buNone/>
              <a:defRPr sz="2000" b="0" cap="all" baseline="0">
                <a:solidFill>
                  <a:schemeClr val="tx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097280" y="3081584"/>
            <a:ext cx="4937760" cy="2878949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217920" y="2214192"/>
            <a:ext cx="4937760" cy="736282"/>
          </a:xfrm>
        </p:spPr>
        <p:txBody>
          <a:bodyPr lIns="91440" rIns="91440" anchor="ctr">
            <a:normAutofit/>
          </a:bodyPr>
          <a:lstStyle>
            <a:lvl1pPr marL="0" indent="0">
              <a:buNone/>
              <a:defRPr sz="2000" b="0" cap="all" baseline="0">
                <a:solidFill>
                  <a:schemeClr val="tx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217920" y="3081584"/>
            <a:ext cx="4937760" cy="2878950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13" name="Rectangle 12"/>
          <p:cNvSpPr/>
          <p:nvPr/>
        </p:nvSpPr>
        <p:spPr>
          <a:xfrm>
            <a:off x="15" y="6169025"/>
            <a:ext cx="12188825" cy="230226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4" name="Espace réservé du texte 11"/>
          <p:cNvSpPr>
            <a:spLocks noGrp="1"/>
          </p:cNvSpPr>
          <p:nvPr>
            <p:ph type="body" sz="quarter" idx="10"/>
          </p:nvPr>
        </p:nvSpPr>
        <p:spPr>
          <a:xfrm>
            <a:off x="85725" y="6169025"/>
            <a:ext cx="7178675" cy="230188"/>
          </a:xfrm>
        </p:spPr>
        <p:txBody>
          <a:bodyPr>
            <a:noAutofit/>
          </a:bodyPr>
          <a:lstStyle>
            <a:lvl1pPr>
              <a:defRPr sz="1100">
                <a:solidFill>
                  <a:schemeClr val="bg1"/>
                </a:solidFill>
                <a:latin typeface="+mn-lt"/>
              </a:defRPr>
            </a:lvl1pPr>
          </a:lstStyle>
          <a:p>
            <a:pPr lvl="0"/>
            <a:r>
              <a:rPr lang="fr-FR"/>
              <a:t>Cliquez pour modifier les styles du texte du masque</a:t>
            </a:r>
          </a:p>
        </p:txBody>
      </p:sp>
    </p:spTree>
    <p:extLst>
      <p:ext uri="{BB962C8B-B14F-4D97-AF65-F5344CB8AC3E}">
        <p14:creationId xmlns:p14="http://schemas.microsoft.com/office/powerpoint/2010/main" val="201149425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re seu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8" name="Rectangle 7"/>
          <p:cNvSpPr/>
          <p:nvPr/>
        </p:nvSpPr>
        <p:spPr>
          <a:xfrm>
            <a:off x="15" y="6169025"/>
            <a:ext cx="12188825" cy="230226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9" name="Espace réservé du texte 11"/>
          <p:cNvSpPr>
            <a:spLocks noGrp="1"/>
          </p:cNvSpPr>
          <p:nvPr>
            <p:ph type="body" sz="quarter" idx="10"/>
          </p:nvPr>
        </p:nvSpPr>
        <p:spPr>
          <a:xfrm>
            <a:off x="85725" y="6169025"/>
            <a:ext cx="7178675" cy="230188"/>
          </a:xfrm>
        </p:spPr>
        <p:txBody>
          <a:bodyPr>
            <a:noAutofit/>
          </a:bodyPr>
          <a:lstStyle>
            <a:lvl1pPr>
              <a:defRPr sz="1100">
                <a:solidFill>
                  <a:schemeClr val="bg1"/>
                </a:solidFill>
                <a:latin typeface="+mn-lt"/>
              </a:defRPr>
            </a:lvl1pPr>
          </a:lstStyle>
          <a:p>
            <a:pPr lvl="0"/>
            <a:r>
              <a:rPr lang="fr-FR"/>
              <a:t>Cliquez pour modifier les styles du texte du masque</a:t>
            </a:r>
          </a:p>
        </p:txBody>
      </p:sp>
    </p:spTree>
    <p:extLst>
      <p:ext uri="{BB962C8B-B14F-4D97-AF65-F5344CB8AC3E}">
        <p14:creationId xmlns:p14="http://schemas.microsoft.com/office/powerpoint/2010/main" val="3429994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V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/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fr-FR"/>
          </a:p>
        </p:txBody>
      </p:sp>
      <p:pic>
        <p:nvPicPr>
          <p:cNvPr id="10" name="Image 9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43933" y="78884"/>
            <a:ext cx="1543050" cy="561975"/>
          </a:xfrm>
          <a:prstGeom prst="rect">
            <a:avLst/>
          </a:prstGeom>
        </p:spPr>
      </p:pic>
      <p:sp>
        <p:nvSpPr>
          <p:cNvPr id="11" name="ZoneTexte 10"/>
          <p:cNvSpPr txBox="1"/>
          <p:nvPr/>
        </p:nvSpPr>
        <p:spPr>
          <a:xfrm>
            <a:off x="85725" y="6490126"/>
            <a:ext cx="7829550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200" dirty="0">
                <a:solidFill>
                  <a:schemeClr val="bg1"/>
                </a:solidFill>
                <a:latin typeface="Myriad Pro Light" panose="020B0403030403020204" pitchFamily="34" charset="0"/>
                <a:ea typeface="Nothing You Could Do" panose="02000000000000000000" pitchFamily="2" charset="0"/>
              </a:rPr>
              <a:t>Sciences Po Bordeaux - 11 allée Ausone | Domaine universitaire – 33607 Pessac Cedex - www.sciencespobordeaux.fr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5" y="6169025"/>
            <a:ext cx="12188825" cy="230226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fr-FR"/>
          </a:p>
        </p:txBody>
      </p:sp>
      <p:sp>
        <p:nvSpPr>
          <p:cNvPr id="13" name="Espace réservé du texte 11"/>
          <p:cNvSpPr>
            <a:spLocks noGrp="1"/>
          </p:cNvSpPr>
          <p:nvPr>
            <p:ph type="body" sz="quarter" idx="10"/>
          </p:nvPr>
        </p:nvSpPr>
        <p:spPr>
          <a:xfrm>
            <a:off x="85725" y="6169025"/>
            <a:ext cx="7178675" cy="230188"/>
          </a:xfrm>
        </p:spPr>
        <p:txBody>
          <a:bodyPr>
            <a:noAutofit/>
          </a:bodyPr>
          <a:lstStyle>
            <a:lvl1pPr>
              <a:defRPr sz="1100">
                <a:solidFill>
                  <a:schemeClr val="bg1"/>
                </a:solidFill>
                <a:latin typeface="+mn-lt"/>
              </a:defRPr>
            </a:lvl1pPr>
          </a:lstStyle>
          <a:p>
            <a:pPr lvl="0"/>
            <a:r>
              <a:rPr lang="fr-FR"/>
              <a:t>Cliquez pour modifier les styles du texte du masque</a:t>
            </a:r>
          </a:p>
        </p:txBody>
      </p:sp>
    </p:spTree>
    <p:extLst>
      <p:ext uri="{BB962C8B-B14F-4D97-AF65-F5344CB8AC3E}">
        <p14:creationId xmlns:p14="http://schemas.microsoft.com/office/powerpoint/2010/main" val="47395634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Tx" preserve="1">
  <p:cSld name="Contenu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/>
          <p:nvPr/>
        </p:nvSpPr>
        <p:spPr>
          <a:xfrm>
            <a:off x="16" y="0"/>
            <a:ext cx="4050791" cy="6858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9" name="Rectangle 8"/>
          <p:cNvSpPr/>
          <p:nvPr/>
        </p:nvSpPr>
        <p:spPr>
          <a:xfrm>
            <a:off x="4040071" y="0"/>
            <a:ext cx="64008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594359"/>
            <a:ext cx="3200400" cy="2286000"/>
          </a:xfrm>
        </p:spPr>
        <p:txBody>
          <a:bodyPr anchor="b">
            <a:normAutofit/>
          </a:bodyPr>
          <a:lstStyle>
            <a:lvl1pPr>
              <a:defRPr sz="3600" b="0">
                <a:solidFill>
                  <a:srgbClr val="FFFFFF"/>
                </a:solidFill>
              </a:defRPr>
            </a:lvl1pPr>
          </a:lstStyle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800600" y="731520"/>
            <a:ext cx="6492240" cy="5257800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2926080"/>
            <a:ext cx="3200400" cy="3379124"/>
          </a:xfrm>
        </p:spPr>
        <p:txBody>
          <a:bodyPr lIns="91440" rIns="91440">
            <a:normAutofit/>
          </a:bodyPr>
          <a:lstStyle>
            <a:lvl1pPr marL="0" indent="0">
              <a:buNone/>
              <a:defRPr sz="1500">
                <a:solidFill>
                  <a:srgbClr val="FFFFFF"/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4800600" y="6459785"/>
            <a:ext cx="4648200" cy="365125"/>
          </a:xfrm>
          <a:prstGeom prst="rect">
            <a:avLst/>
          </a:prstGeom>
        </p:spPr>
        <p:txBody>
          <a:bodyPr/>
          <a:lstStyle>
            <a:lvl1pPr algn="l">
              <a:defRPr>
                <a:solidFill>
                  <a:schemeClr val="tx2"/>
                </a:solidFill>
              </a:defRPr>
            </a:lvl1pPr>
          </a:lstStyle>
          <a:p>
            <a:endParaRPr lang="fr-FR"/>
          </a:p>
        </p:txBody>
      </p:sp>
      <p:pic>
        <p:nvPicPr>
          <p:cNvPr id="11" name="Image 10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60124" y="41563"/>
            <a:ext cx="2319839" cy="84266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5134951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picTx" preserve="1">
  <p:cSld name="Image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/>
          <p:nvPr/>
        </p:nvSpPr>
        <p:spPr>
          <a:xfrm>
            <a:off x="0" y="4953000"/>
            <a:ext cx="12188825" cy="1905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9" name="Rectangle 8"/>
          <p:cNvSpPr/>
          <p:nvPr/>
        </p:nvSpPr>
        <p:spPr>
          <a:xfrm>
            <a:off x="15" y="491507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97280" y="5074920"/>
            <a:ext cx="10113645" cy="822960"/>
          </a:xfrm>
        </p:spPr>
        <p:txBody>
          <a:bodyPr lIns="91440" tIns="0" rIns="91440" bIns="0" anchor="b">
            <a:noAutofit/>
          </a:bodyPr>
          <a:lstStyle>
            <a:lvl1pPr>
              <a:defRPr sz="3600" b="0">
                <a:solidFill>
                  <a:srgbClr val="FFFFFF"/>
                </a:solidFill>
              </a:defRPr>
            </a:lvl1pPr>
          </a:lstStyle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5" y="0"/>
            <a:ext cx="12191985" cy="4915076"/>
          </a:xfrm>
          <a:solidFill>
            <a:schemeClr val="bg2">
              <a:lumMod val="90000"/>
            </a:schemeClr>
          </a:solidFill>
        </p:spPr>
        <p:txBody>
          <a:bodyPr lIns="457200" tIns="457200"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fr-FR"/>
              <a:t>Cliquez sur l'icône pour ajouter une image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097280" y="5907024"/>
            <a:ext cx="10113264" cy="594360"/>
          </a:xfrm>
        </p:spPr>
        <p:txBody>
          <a:bodyPr lIns="91440" tIns="0" rIns="91440" bIns="0">
            <a:normAutofit/>
          </a:bodyPr>
          <a:lstStyle>
            <a:lvl1pPr marL="0" indent="0">
              <a:spcBef>
                <a:spcPts val="0"/>
              </a:spcBef>
              <a:spcAft>
                <a:spcPts val="600"/>
              </a:spcAft>
              <a:buNone/>
              <a:defRPr sz="1500">
                <a:solidFill>
                  <a:srgbClr val="FFFFFF"/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pic>
        <p:nvPicPr>
          <p:cNvPr id="11" name="Image 10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09791" y="0"/>
            <a:ext cx="2319839" cy="84266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7936049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re et texte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lIns="45720" tIns="0" rIns="45720" bIns="0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9" name="Rectangle 8"/>
          <p:cNvSpPr/>
          <p:nvPr/>
        </p:nvSpPr>
        <p:spPr>
          <a:xfrm>
            <a:off x="15" y="6169025"/>
            <a:ext cx="12188825" cy="230226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0" name="Espace réservé du texte 11"/>
          <p:cNvSpPr>
            <a:spLocks noGrp="1"/>
          </p:cNvSpPr>
          <p:nvPr>
            <p:ph type="body" sz="quarter" idx="10"/>
          </p:nvPr>
        </p:nvSpPr>
        <p:spPr>
          <a:xfrm>
            <a:off x="85725" y="6169025"/>
            <a:ext cx="7178675" cy="230188"/>
          </a:xfrm>
        </p:spPr>
        <p:txBody>
          <a:bodyPr>
            <a:noAutofit/>
          </a:bodyPr>
          <a:lstStyle>
            <a:lvl1pPr>
              <a:defRPr sz="1100">
                <a:solidFill>
                  <a:schemeClr val="bg1"/>
                </a:solidFill>
                <a:latin typeface="+mn-lt"/>
              </a:defRPr>
            </a:lvl1pPr>
          </a:lstStyle>
          <a:p>
            <a:pPr lvl="0"/>
            <a:r>
              <a:rPr lang="fr-FR"/>
              <a:t>Cliquez pour modifier les styles du texte du masque</a:t>
            </a:r>
          </a:p>
        </p:txBody>
      </p:sp>
    </p:spTree>
    <p:extLst>
      <p:ext uri="{BB962C8B-B14F-4D97-AF65-F5344CB8AC3E}">
        <p14:creationId xmlns:p14="http://schemas.microsoft.com/office/powerpoint/2010/main" val="233341228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Titre vertical et tex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412302"/>
            <a:ext cx="2628900" cy="5759898"/>
          </a:xfrm>
        </p:spPr>
        <p:txBody>
          <a:bodyPr vert="eaVert"/>
          <a:lstStyle/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412302"/>
            <a:ext cx="7734300" cy="5759898"/>
          </a:xfrm>
        </p:spPr>
        <p:txBody>
          <a:bodyPr vert="eaVert" lIns="45720" tIns="0" rIns="45720" bIns="0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pic>
        <p:nvPicPr>
          <p:cNvPr id="9" name="Image 8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5400000">
            <a:off x="10440958" y="791524"/>
            <a:ext cx="1543050" cy="5619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33419340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isposition personnalisé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  <a:endParaRPr lang="fr-FR" dirty="0"/>
          </a:p>
        </p:txBody>
      </p:sp>
      <p:sp>
        <p:nvSpPr>
          <p:cNvPr id="6" name="Rectangle 5"/>
          <p:cNvSpPr/>
          <p:nvPr/>
        </p:nvSpPr>
        <p:spPr>
          <a:xfrm>
            <a:off x="15" y="6169025"/>
            <a:ext cx="12188825" cy="230226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7" name="Espace réservé du texte 11"/>
          <p:cNvSpPr txBox="1">
            <a:spLocks/>
          </p:cNvSpPr>
          <p:nvPr/>
        </p:nvSpPr>
        <p:spPr>
          <a:xfrm>
            <a:off x="1" y="6169025"/>
            <a:ext cx="7264400" cy="230188"/>
          </a:xfrm>
          <a:prstGeom prst="rect">
            <a:avLst/>
          </a:prstGeom>
        </p:spPr>
        <p:txBody>
          <a:bodyPr>
            <a:noAutofit/>
          </a:bodyPr>
          <a:lstStyle>
            <a:lvl1pPr marL="91440" indent="-91440" algn="l" defTabSz="914400" rtl="0" eaLnBrk="1" latinLnBrk="0" hangingPunct="1">
              <a:lnSpc>
                <a:spcPct val="90000"/>
              </a:lnSpc>
              <a:spcBef>
                <a:spcPts val="1200"/>
              </a:spcBef>
              <a:spcAft>
                <a:spcPts val="200"/>
              </a:spcAft>
              <a:buClr>
                <a:schemeClr val="accent1"/>
              </a:buClr>
              <a:buSzPct val="100000"/>
              <a:buFont typeface="Calibri" panose="020F0502020204030204" pitchFamily="34" charset="0"/>
              <a:buChar char=" "/>
              <a:defRPr sz="11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1pPr>
            <a:lvl2pPr marL="384048" indent="-18288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8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566928" indent="-18288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749808" indent="-18288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932688" indent="-18288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100000" indent="-22860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1300000" indent="-22860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1500000" indent="-22860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1700000" indent="-22860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FR" dirty="0"/>
              <a:t>Modifiez les styles du texte du masque</a:t>
            </a:r>
          </a:p>
        </p:txBody>
      </p:sp>
    </p:spTree>
    <p:extLst>
      <p:ext uri="{BB962C8B-B14F-4D97-AF65-F5344CB8AC3E}">
        <p14:creationId xmlns:p14="http://schemas.microsoft.com/office/powerpoint/2010/main" val="160436859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image" Target="../media/image1.jp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1" y="6400800"/>
            <a:ext cx="12192000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fr-FR"/>
          </a:p>
        </p:txBody>
      </p: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097280" y="446755"/>
            <a:ext cx="10058400" cy="1450757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fr-FR" dirty="0"/>
              <a:t>Modifiez le style du titre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97280" y="2167467"/>
            <a:ext cx="10058400" cy="3701627"/>
          </a:xfrm>
          <a:prstGeom prst="rect">
            <a:avLst/>
          </a:prstGeom>
        </p:spPr>
        <p:txBody>
          <a:bodyPr vert="horz" lIns="0" tIns="45720" rIns="0" bIns="45720" rtlCol="0">
            <a:normAutofit/>
          </a:bodyPr>
          <a:lstStyle/>
          <a:p>
            <a:pPr lvl="0"/>
            <a:r>
              <a:rPr lang="fr-FR" dirty="0"/>
              <a:t>Modifiez les styles du texte du masque</a:t>
            </a:r>
          </a:p>
          <a:p>
            <a:pPr lvl="1"/>
            <a:r>
              <a:rPr lang="fr-FR" dirty="0"/>
              <a:t>Deuxième niveau</a:t>
            </a:r>
          </a:p>
          <a:p>
            <a:pPr lvl="2"/>
            <a:r>
              <a:rPr lang="fr-FR" dirty="0"/>
              <a:t>Troisième niveau</a:t>
            </a:r>
          </a:p>
          <a:p>
            <a:pPr lvl="3"/>
            <a:r>
              <a:rPr lang="fr-FR" dirty="0"/>
              <a:t>Quatrième niveau</a:t>
            </a:r>
          </a:p>
          <a:p>
            <a:pPr lvl="4"/>
            <a:r>
              <a:rPr lang="fr-FR" dirty="0"/>
              <a:t>Cinquième niveau</a:t>
            </a:r>
            <a:endParaRPr lang="en-US" dirty="0"/>
          </a:p>
        </p:txBody>
      </p:sp>
      <p:cxnSp>
        <p:nvCxnSpPr>
          <p:cNvPr id="10" name="Straight Connector 9"/>
          <p:cNvCxnSpPr/>
          <p:nvPr/>
        </p:nvCxnSpPr>
        <p:spPr>
          <a:xfrm>
            <a:off x="1097280" y="1944220"/>
            <a:ext cx="9966960" cy="0"/>
          </a:xfrm>
          <a:prstGeom prst="line">
            <a:avLst/>
          </a:prstGeom>
          <a:ln w="63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8" name="Image 7"/>
          <p:cNvPicPr>
            <a:picLocks noChangeAspect="1"/>
          </p:cNvPicPr>
          <p:nvPr/>
        </p:nvPicPr>
        <p:blipFill>
          <a:blip r:embed="rId1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853"/>
            <a:ext cx="1619250" cy="590550"/>
          </a:xfrm>
          <a:prstGeom prst="rect">
            <a:avLst/>
          </a:prstGeom>
        </p:spPr>
      </p:pic>
      <p:sp>
        <p:nvSpPr>
          <p:cNvPr id="11" name="ZoneTexte 10"/>
          <p:cNvSpPr txBox="1"/>
          <p:nvPr/>
        </p:nvSpPr>
        <p:spPr>
          <a:xfrm>
            <a:off x="85725" y="6490126"/>
            <a:ext cx="7829550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200" dirty="0">
                <a:solidFill>
                  <a:schemeClr val="bg1"/>
                </a:solidFill>
                <a:latin typeface="Myriad Pro Light" panose="020B0403030403020204" pitchFamily="34" charset="0"/>
                <a:ea typeface="Nothing You Could Do" panose="02000000000000000000" pitchFamily="2" charset="0"/>
              </a:rPr>
              <a:t>Sciences Po Bordeaux - 11 allée Ausone | Domaine universitaire – 33607 Pessac Cedex - www.sciencespobordeaux.fr</a:t>
            </a:r>
          </a:p>
        </p:txBody>
      </p:sp>
    </p:spTree>
    <p:extLst>
      <p:ext uri="{BB962C8B-B14F-4D97-AF65-F5344CB8AC3E}">
        <p14:creationId xmlns:p14="http://schemas.microsoft.com/office/powerpoint/2010/main" val="146520926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78" r:id="rId1"/>
    <p:sldLayoutId id="2147483779" r:id="rId2"/>
    <p:sldLayoutId id="2147483780" r:id="rId3"/>
    <p:sldLayoutId id="2147483781" r:id="rId4"/>
    <p:sldLayoutId id="2147483782" r:id="rId5"/>
    <p:sldLayoutId id="2147483783" r:id="rId6"/>
    <p:sldLayoutId id="2147483784" r:id="rId7"/>
    <p:sldLayoutId id="2147483785" r:id="rId8"/>
    <p:sldLayoutId id="2147483786" r:id="rId9"/>
    <p:sldLayoutId id="2147483787" r:id="rId10"/>
    <p:sldLayoutId id="2147483788" r:id="rId11"/>
    <p:sldLayoutId id="2147483789" r:id="rId12"/>
  </p:sldLayoutIdLst>
  <p:txStyles>
    <p:titleStyle>
      <a:lvl1pPr algn="l" defTabSz="914400" rtl="0" eaLnBrk="1" latinLnBrk="0" hangingPunct="1">
        <a:lnSpc>
          <a:spcPct val="85000"/>
        </a:lnSpc>
        <a:spcBef>
          <a:spcPct val="0"/>
        </a:spcBef>
        <a:buNone/>
        <a:defRPr sz="4800" kern="1200" spc="-50" baseline="0">
          <a:solidFill>
            <a:schemeClr val="tx1">
              <a:lumMod val="75000"/>
              <a:lumOff val="25000"/>
            </a:schemeClr>
          </a:solidFill>
          <a:latin typeface="+mj-lt"/>
          <a:ea typeface="+mj-ea"/>
          <a:cs typeface="+mj-cs"/>
        </a:defRPr>
      </a:lvl1pPr>
    </p:titleStyle>
    <p:bodyStyle>
      <a:lvl1pPr marL="91440" indent="-91440" algn="l" defTabSz="914400" rtl="0" eaLnBrk="1" latinLnBrk="0" hangingPunct="1">
        <a:lnSpc>
          <a:spcPct val="90000"/>
        </a:lnSpc>
        <a:spcBef>
          <a:spcPts val="1200"/>
        </a:spcBef>
        <a:spcAft>
          <a:spcPts val="200"/>
        </a:spcAft>
        <a:buClr>
          <a:schemeClr val="accent1"/>
        </a:buClr>
        <a:buSzPct val="100000"/>
        <a:buFont typeface="Calibri" panose="020F0502020204030204" pitchFamily="34" charset="0"/>
        <a:buChar char=" "/>
        <a:defRPr sz="20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1pPr>
      <a:lvl2pPr marL="384048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8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2pPr>
      <a:lvl3pPr marL="566928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3pPr>
      <a:lvl4pPr marL="749808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4pPr>
      <a:lvl5pPr marL="932688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5pPr>
      <a:lvl6pPr marL="11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6pPr>
      <a:lvl7pPr marL="13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7pPr>
      <a:lvl8pPr marL="15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8pPr>
      <a:lvl9pPr marL="17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hyperlink" Target="https://www.jamovi.org/download.html" TargetMode="Externa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0A641997-4178-8548-1030-F631C2C61BC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fr-FR" sz="4800" dirty="0"/>
              <a:t>Séance 1. Séance introductive 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CB04D3B6-EB6E-73A0-5EF5-323E9FA1EFA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4" name="Espace réservé du texte 3">
            <a:extLst>
              <a:ext uri="{FF2B5EF4-FFF2-40B4-BE49-F238E27FC236}">
                <a16:creationId xmlns:a16="http://schemas.microsoft.com/office/drawing/2014/main" id="{CB7EC9E8-4623-023E-E04E-4C5665C31050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09686087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u contenu 1">
            <a:extLst>
              <a:ext uri="{FF2B5EF4-FFF2-40B4-BE49-F238E27FC236}">
                <a16:creationId xmlns:a16="http://schemas.microsoft.com/office/drawing/2014/main" id="{7D96B740-597A-976E-8A4D-0B1DEC7EC13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>
              <a:spcAft>
                <a:spcPts val="300"/>
              </a:spcAft>
              <a:buFont typeface="Arial" panose="020B0604020202020204" pitchFamily="34" charset="0"/>
              <a:buChar char="•"/>
            </a:pPr>
            <a:r>
              <a:rPr lang="fr-FR" dirty="0">
                <a:effectLst/>
                <a:ea typeface="Times New Roman" panose="02020603050405020304" pitchFamily="18" charset="0"/>
              </a:rPr>
              <a:t> Présentation du </a:t>
            </a:r>
            <a:r>
              <a:rPr lang="fr-FR" b="1" dirty="0">
                <a:effectLst/>
                <a:ea typeface="Times New Roman" panose="02020603050405020304" pitchFamily="18" charset="0"/>
              </a:rPr>
              <a:t>semestre</a:t>
            </a:r>
            <a:r>
              <a:rPr lang="fr-FR" dirty="0">
                <a:effectLst/>
                <a:ea typeface="Times New Roman" panose="02020603050405020304" pitchFamily="18" charset="0"/>
              </a:rPr>
              <a:t> (programme, thèmes, exercices &amp; validation, le </a:t>
            </a:r>
            <a:r>
              <a:rPr lang="fr-FR" dirty="0" err="1">
                <a:effectLst/>
                <a:ea typeface="Times New Roman" panose="02020603050405020304" pitchFamily="18" charset="0"/>
              </a:rPr>
              <a:t>moodle</a:t>
            </a:r>
            <a:r>
              <a:rPr lang="fr-FR" dirty="0">
                <a:effectLst/>
                <a:ea typeface="Times New Roman" panose="02020603050405020304" pitchFamily="18" charset="0"/>
              </a:rPr>
              <a:t>)</a:t>
            </a:r>
          </a:p>
          <a:p>
            <a:pPr algn="just">
              <a:spcAft>
                <a:spcPts val="300"/>
              </a:spcAft>
              <a:buFont typeface="Arial" panose="020B0604020202020204" pitchFamily="34" charset="0"/>
              <a:buChar char="•"/>
            </a:pPr>
            <a:r>
              <a:rPr lang="fr-FR" dirty="0">
                <a:effectLst/>
                <a:ea typeface="Times New Roman" panose="02020603050405020304" pitchFamily="18" charset="0"/>
              </a:rPr>
              <a:t> Découverte du logiciel </a:t>
            </a:r>
            <a:r>
              <a:rPr lang="fr-FR" b="1" dirty="0">
                <a:effectLst/>
                <a:ea typeface="Times New Roman" panose="02020603050405020304" pitchFamily="18" charset="0"/>
              </a:rPr>
              <a:t>JAMOVI</a:t>
            </a:r>
            <a:r>
              <a:rPr lang="fr-FR" dirty="0">
                <a:effectLst/>
                <a:ea typeface="Times New Roman" panose="02020603050405020304" pitchFamily="18" charset="0"/>
              </a:rPr>
              <a:t> (Installation, Ouvrir un jeu de données)</a:t>
            </a:r>
          </a:p>
          <a:p>
            <a:pPr algn="just">
              <a:buFont typeface="Arial" panose="020B0604020202020204" pitchFamily="34" charset="0"/>
              <a:buChar char="•"/>
            </a:pPr>
            <a:r>
              <a:rPr lang="fr-FR" dirty="0">
                <a:ea typeface="Times New Roman" panose="02020603050405020304" pitchFamily="18" charset="0"/>
              </a:rPr>
              <a:t> </a:t>
            </a:r>
            <a:r>
              <a:rPr lang="fr-FR" dirty="0">
                <a:effectLst/>
                <a:ea typeface="Times New Roman" panose="02020603050405020304" pitchFamily="18" charset="0"/>
              </a:rPr>
              <a:t>“Jeux” de prise en main avec JAMOVI</a:t>
            </a:r>
          </a:p>
          <a:p>
            <a:pPr algn="just">
              <a:buFont typeface="Arial" panose="020B0604020202020204" pitchFamily="34" charset="0"/>
              <a:buChar char="•"/>
            </a:pPr>
            <a:r>
              <a:rPr lang="fr-FR" dirty="0">
                <a:effectLst/>
                <a:ea typeface="Times New Roman" panose="02020603050405020304" pitchFamily="18" charset="0"/>
              </a:rPr>
              <a:t> Échanges pour </a:t>
            </a:r>
            <a:r>
              <a:rPr lang="fr-FR" b="1" dirty="0">
                <a:effectLst/>
                <a:ea typeface="Times New Roman" panose="02020603050405020304" pitchFamily="18" charset="0"/>
              </a:rPr>
              <a:t>former les groupes </a:t>
            </a:r>
            <a:r>
              <a:rPr lang="fr-FR" dirty="0">
                <a:effectLst/>
                <a:ea typeface="Times New Roman" panose="02020603050405020304" pitchFamily="18" charset="0"/>
              </a:rPr>
              <a:t>autour du ‘4 pages’</a:t>
            </a:r>
          </a:p>
          <a:p>
            <a:pPr algn="just">
              <a:buFont typeface="Arial" panose="020B0604020202020204" pitchFamily="34" charset="0"/>
              <a:buChar char="•"/>
            </a:pPr>
            <a:r>
              <a:rPr lang="fr-FR" dirty="0">
                <a:effectLst/>
                <a:ea typeface="Times New Roman" panose="02020603050405020304" pitchFamily="18" charset="0"/>
              </a:rPr>
              <a:t> Selon le temps : lecture d’un </a:t>
            </a:r>
            <a:r>
              <a:rPr lang="fr-FR" i="1" dirty="0">
                <a:effectLst/>
                <a:ea typeface="Times New Roman" panose="02020603050405020304" pitchFamily="18" charset="0"/>
              </a:rPr>
              <a:t>‘4 pages’</a:t>
            </a:r>
            <a:r>
              <a:rPr lang="fr-FR" dirty="0">
                <a:effectLst/>
                <a:ea typeface="Times New Roman" panose="02020603050405020304" pitchFamily="18" charset="0"/>
              </a:rPr>
              <a:t> pour comprendre l’exercice attendu</a:t>
            </a:r>
          </a:p>
        </p:txBody>
      </p:sp>
      <p:sp>
        <p:nvSpPr>
          <p:cNvPr id="3" name="Titre 2">
            <a:extLst>
              <a:ext uri="{FF2B5EF4-FFF2-40B4-BE49-F238E27FC236}">
                <a16:creationId xmlns:a16="http://schemas.microsoft.com/office/drawing/2014/main" id="{8696BC23-7847-8C77-5772-4B763FE6A0F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>
                <a:solidFill>
                  <a:schemeClr val="tx1">
                    <a:lumMod val="75000"/>
                    <a:lumOff val="25000"/>
                  </a:schemeClr>
                </a:solidFill>
              </a:rPr>
              <a:t>Objectifs de la séance 1</a:t>
            </a:r>
            <a:endParaRPr lang="fr-FR" dirty="0"/>
          </a:p>
        </p:txBody>
      </p:sp>
      <p:sp>
        <p:nvSpPr>
          <p:cNvPr id="4" name="Espace réservé du texte 3">
            <a:extLst>
              <a:ext uri="{FF2B5EF4-FFF2-40B4-BE49-F238E27FC236}">
                <a16:creationId xmlns:a16="http://schemas.microsoft.com/office/drawing/2014/main" id="{7FB3AD1D-79EA-05B7-4BBF-A0F07CF78DC8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79174093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u contenu 1">
            <a:extLst>
              <a:ext uri="{FF2B5EF4-FFF2-40B4-BE49-F238E27FC236}">
                <a16:creationId xmlns:a16="http://schemas.microsoft.com/office/drawing/2014/main" id="{9779353F-3555-D42E-3543-82704216B22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fr-FR" b="1" dirty="0"/>
              <a:t>Cf. Être capable de naviguer dans un monde plein de données</a:t>
            </a:r>
          </a:p>
          <a:p>
            <a:pPr lvl="1">
              <a:buFont typeface="Wingdings" pitchFamily="2" charset="2"/>
              <a:buChar char="§"/>
            </a:pPr>
            <a:r>
              <a:rPr lang="fr-FR" dirty="0"/>
              <a:t>Familiariser à la notion de données</a:t>
            </a:r>
          </a:p>
          <a:p>
            <a:pPr lvl="1">
              <a:buFont typeface="Wingdings" pitchFamily="2" charset="2"/>
              <a:buChar char="§"/>
            </a:pPr>
            <a:r>
              <a:rPr lang="fr-FR" dirty="0"/>
              <a:t>Acquérir compétences lecture de tableaux et visualisation des données</a:t>
            </a:r>
          </a:p>
          <a:p>
            <a:pPr lvl="1">
              <a:buFont typeface="Wingdings" pitchFamily="2" charset="2"/>
              <a:buChar char="§"/>
            </a:pPr>
            <a:r>
              <a:rPr lang="fr-FR" dirty="0"/>
              <a:t>-&gt; mieux comprendre les sujets, aide à la décision, etc.</a:t>
            </a:r>
          </a:p>
          <a:p>
            <a:r>
              <a:rPr lang="fr-FR" b="1" dirty="0">
                <a:effectLst/>
              </a:rPr>
              <a:t>Se traduit par : </a:t>
            </a:r>
          </a:p>
          <a:p>
            <a:pPr>
              <a:buFont typeface="+mj-lt"/>
              <a:buAutoNum type="arabicPeriod"/>
            </a:pPr>
            <a:r>
              <a:rPr lang="fr-FR" dirty="0">
                <a:effectLst/>
              </a:rPr>
              <a:t> Initier au vocabulaire et concepts de base de l’analyse de données (stat</a:t>
            </a:r>
            <a:r>
              <a:rPr lang="fr-FR" dirty="0"/>
              <a:t>)</a:t>
            </a:r>
            <a:endParaRPr lang="fr-FR" dirty="0">
              <a:effectLst/>
            </a:endParaRPr>
          </a:p>
          <a:p>
            <a:pPr>
              <a:buFont typeface="+mj-lt"/>
              <a:buAutoNum type="arabicPeriod"/>
            </a:pPr>
            <a:r>
              <a:rPr lang="fr-FR" dirty="0">
                <a:effectLst/>
              </a:rPr>
              <a:t> Comprendre leur place dans la démarche scientifique et argumentative</a:t>
            </a:r>
          </a:p>
          <a:p>
            <a:pPr>
              <a:buFont typeface="+mj-lt"/>
              <a:buAutoNum type="arabicPeriod"/>
            </a:pPr>
            <a:r>
              <a:rPr lang="fr-FR" dirty="0">
                <a:effectLst/>
              </a:rPr>
              <a:t> Construire et produire des analyses élémentaires (indicateurs, tableaux, graphiques, relations entre deux variables)</a:t>
            </a:r>
          </a:p>
          <a:p>
            <a:pPr>
              <a:buFont typeface="+mj-lt"/>
              <a:buAutoNum type="arabicPeriod"/>
            </a:pPr>
            <a:r>
              <a:rPr lang="fr-FR" dirty="0">
                <a:effectLst/>
              </a:rPr>
              <a:t> Développer la capacité d'analyse et d'interprétation des résultats </a:t>
            </a:r>
          </a:p>
        </p:txBody>
      </p:sp>
      <p:sp>
        <p:nvSpPr>
          <p:cNvPr id="3" name="Titre 2">
            <a:extLst>
              <a:ext uri="{FF2B5EF4-FFF2-40B4-BE49-F238E27FC236}">
                <a16:creationId xmlns:a16="http://schemas.microsoft.com/office/drawing/2014/main" id="{AF57EE5D-CBCB-3D2C-8C14-8014D1A76E9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Objectifs du cours</a:t>
            </a:r>
          </a:p>
        </p:txBody>
      </p:sp>
      <p:sp>
        <p:nvSpPr>
          <p:cNvPr id="4" name="Espace réservé du texte 3">
            <a:extLst>
              <a:ext uri="{FF2B5EF4-FFF2-40B4-BE49-F238E27FC236}">
                <a16:creationId xmlns:a16="http://schemas.microsoft.com/office/drawing/2014/main" id="{44CC9A37-7D0F-545D-7842-DA47EC33CCCC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99723945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u texte 1">
            <a:extLst>
              <a:ext uri="{FF2B5EF4-FFF2-40B4-BE49-F238E27FC236}">
                <a16:creationId xmlns:a16="http://schemas.microsoft.com/office/drawing/2014/main" id="{6E04C379-78B6-407D-89D7-6B74E8128465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endParaRPr lang="fr-FR"/>
          </a:p>
        </p:txBody>
      </p:sp>
      <p:graphicFrame>
        <p:nvGraphicFramePr>
          <p:cNvPr id="3" name="Espace réservé du contenu 4">
            <a:extLst>
              <a:ext uri="{FF2B5EF4-FFF2-40B4-BE49-F238E27FC236}">
                <a16:creationId xmlns:a16="http://schemas.microsoft.com/office/drawing/2014/main" id="{15D77B8B-D8CB-7075-0410-FD2A53AE632A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4269806983"/>
              </p:ext>
            </p:extLst>
          </p:nvPr>
        </p:nvGraphicFramePr>
        <p:xfrm>
          <a:off x="1036320" y="1152236"/>
          <a:ext cx="10119360" cy="486867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972010">
                  <a:extLst>
                    <a:ext uri="{9D8B030D-6E8A-4147-A177-3AD203B41FA5}">
                      <a16:colId xmlns:a16="http://schemas.microsoft.com/office/drawing/2014/main" val="1474147497"/>
                    </a:ext>
                  </a:extLst>
                </a:gridCol>
                <a:gridCol w="7147350">
                  <a:extLst>
                    <a:ext uri="{9D8B030D-6E8A-4147-A177-3AD203B41FA5}">
                      <a16:colId xmlns:a16="http://schemas.microsoft.com/office/drawing/2014/main" val="2479554857"/>
                    </a:ext>
                  </a:extLst>
                </a:gridCol>
              </a:tblGrid>
              <a:tr h="221328">
                <a:tc>
                  <a:txBody>
                    <a:bodyPr/>
                    <a:lstStyle/>
                    <a:p>
                      <a:r>
                        <a:rPr lang="fr-FR" sz="1800" b="0" dirty="0"/>
                        <a:t>Séance</a:t>
                      </a:r>
                    </a:p>
                  </a:txBody>
                  <a:tcPr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sz="1800" b="0" dirty="0"/>
                        <a:t>Thème</a:t>
                      </a:r>
                    </a:p>
                  </a:txBody>
                  <a:tcPr>
                    <a:solidFill>
                      <a:schemeClr val="accent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61147663"/>
                  </a:ext>
                </a:extLst>
              </a:tr>
              <a:tr h="221328">
                <a:tc>
                  <a:txBody>
                    <a:bodyPr/>
                    <a:lstStyle/>
                    <a:p>
                      <a:r>
                        <a:rPr lang="fr-FR" sz="1800" b="0" dirty="0"/>
                        <a:t>1 -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sz="1800" b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Séance introductive</a:t>
                      </a:r>
                      <a:endParaRPr lang="fr-FR" sz="1800" b="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614897440"/>
                  </a:ext>
                </a:extLst>
              </a:tr>
              <a:tr h="221328">
                <a:tc>
                  <a:txBody>
                    <a:bodyPr/>
                    <a:lstStyle/>
                    <a:p>
                      <a:r>
                        <a:rPr lang="fr-FR" sz="1800" b="0" dirty="0"/>
                        <a:t>2 -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sz="1800" b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L’enquête par questionnaire 1/2</a:t>
                      </a:r>
                      <a:endParaRPr lang="fr-FR" sz="1800" b="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237913142"/>
                  </a:ext>
                </a:extLst>
              </a:tr>
              <a:tr h="382017">
                <a:tc>
                  <a:txBody>
                    <a:bodyPr/>
                    <a:lstStyle/>
                    <a:p>
                      <a:r>
                        <a:rPr lang="fr-FR" sz="1800" b="0" dirty="0">
                          <a:highlight>
                            <a:srgbClr val="FF00FF"/>
                          </a:highlight>
                        </a:rPr>
                        <a:t>3 -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800" b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L’enquête par questionnaire 2/2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32306651"/>
                  </a:ext>
                </a:extLst>
              </a:tr>
              <a:tr h="221328">
                <a:tc>
                  <a:txBody>
                    <a:bodyPr/>
                    <a:lstStyle/>
                    <a:p>
                      <a:r>
                        <a:rPr lang="fr-FR" sz="1800" b="0" dirty="0"/>
                        <a:t>4 -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sz="1800" b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Statistique descriptive univariée</a:t>
                      </a:r>
                      <a:endParaRPr lang="fr-FR" sz="1800" b="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82884589"/>
                  </a:ext>
                </a:extLst>
              </a:tr>
              <a:tr h="382017">
                <a:tc>
                  <a:txBody>
                    <a:bodyPr/>
                    <a:lstStyle/>
                    <a:p>
                      <a:r>
                        <a:rPr lang="fr-FR" sz="1800" b="0" dirty="0"/>
                        <a:t>5 -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sz="1800" b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Statistique bivariée : relation entre 2 variables quantitatives</a:t>
                      </a:r>
                      <a:endParaRPr lang="fr-FR" sz="1800" b="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13881202"/>
                  </a:ext>
                </a:extLst>
              </a:tr>
              <a:tr h="382017">
                <a:tc>
                  <a:txBody>
                    <a:bodyPr/>
                    <a:lstStyle/>
                    <a:p>
                      <a:r>
                        <a:rPr lang="fr-FR" sz="1800" b="0" dirty="0">
                          <a:highlight>
                            <a:srgbClr val="FF00FF"/>
                          </a:highlight>
                        </a:rPr>
                        <a:t>6 -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sz="1800" b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Statistique bivariée : relation entre 2 variables qualitatives</a:t>
                      </a:r>
                      <a:endParaRPr lang="fr-FR" sz="1800" b="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504163048"/>
                  </a:ext>
                </a:extLst>
              </a:tr>
              <a:tr h="382017">
                <a:tc>
                  <a:txBody>
                    <a:bodyPr/>
                    <a:lstStyle/>
                    <a:p>
                      <a:r>
                        <a:rPr lang="fr-FR" sz="1800" b="0" dirty="0"/>
                        <a:t>7 -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800" b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Recodages et construction d’indicateurs</a:t>
                      </a:r>
                      <a:endParaRPr lang="fr-FR" sz="1800" b="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08470061"/>
                  </a:ext>
                </a:extLst>
              </a:tr>
              <a:tr h="221328">
                <a:tc>
                  <a:txBody>
                    <a:bodyPr/>
                    <a:lstStyle/>
                    <a:p>
                      <a:r>
                        <a:rPr lang="fr-FR" sz="1800" b="0" dirty="0">
                          <a:highlight>
                            <a:srgbClr val="FF00FF"/>
                          </a:highlight>
                        </a:rPr>
                        <a:t>8 -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800" b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Visualisation graphique de résultats d’enquête</a:t>
                      </a:r>
                      <a:endParaRPr lang="fr-FR" sz="1800" b="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27616549"/>
                  </a:ext>
                </a:extLst>
              </a:tr>
              <a:tr h="382017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800" b="0" dirty="0"/>
                        <a:t>9 -</a:t>
                      </a:r>
                      <a:endParaRPr lang="fr-FR" sz="1800" b="0" kern="1200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800" b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Travail en groupe sur le 4 pages</a:t>
                      </a:r>
                      <a:endParaRPr lang="fr-FR" sz="1800" b="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752406213"/>
                  </a:ext>
                </a:extLst>
              </a:tr>
              <a:tr h="382017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800" b="0" dirty="0"/>
                        <a:t>10 -</a:t>
                      </a:r>
                      <a:endParaRPr lang="fr-FR" sz="1800" b="0" kern="1200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sz="1800" b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Travail en groupe sur le 4 pages</a:t>
                      </a:r>
                      <a:endParaRPr lang="fr-FR" sz="1800" b="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44503113"/>
                  </a:ext>
                </a:extLst>
              </a:tr>
              <a:tr h="221328">
                <a:tc>
                  <a:txBody>
                    <a:bodyPr/>
                    <a:lstStyle/>
                    <a:p>
                      <a:r>
                        <a:rPr lang="fr-FR" sz="1800" b="0" dirty="0">
                          <a:highlight>
                            <a:srgbClr val="008080"/>
                          </a:highlight>
                        </a:rPr>
                        <a:t>11 -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sz="1800" b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EXPOSÉ en groupe sur le 4 pages</a:t>
                      </a:r>
                      <a:endParaRPr lang="fr-FR" sz="1800" b="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74835842"/>
                  </a:ext>
                </a:extLst>
              </a:tr>
              <a:tr h="382017">
                <a:tc>
                  <a:txBody>
                    <a:bodyPr/>
                    <a:lstStyle/>
                    <a:p>
                      <a:r>
                        <a:rPr lang="fr-FR" sz="1800" b="0" dirty="0"/>
                        <a:t>12 -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800" b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Travail en groupe sur le 4 pages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161049433"/>
                  </a:ext>
                </a:extLst>
              </a:tr>
            </a:tbl>
          </a:graphicData>
        </a:graphic>
      </p:graphicFrame>
      <p:sp>
        <p:nvSpPr>
          <p:cNvPr id="4" name="ZoneTexte 3">
            <a:extLst>
              <a:ext uri="{FF2B5EF4-FFF2-40B4-BE49-F238E27FC236}">
                <a16:creationId xmlns:a16="http://schemas.microsoft.com/office/drawing/2014/main" id="{951D063D-9E2E-4C2D-FE29-5701FA0BBECA}"/>
              </a:ext>
            </a:extLst>
          </p:cNvPr>
          <p:cNvSpPr txBox="1"/>
          <p:nvPr/>
        </p:nvSpPr>
        <p:spPr>
          <a:xfrm>
            <a:off x="4678785" y="283966"/>
            <a:ext cx="2834430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4800" dirty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</a:rPr>
              <a:t>Calendrier</a:t>
            </a:r>
          </a:p>
        </p:txBody>
      </p:sp>
    </p:spTree>
    <p:extLst>
      <p:ext uri="{BB962C8B-B14F-4D97-AF65-F5344CB8AC3E}">
        <p14:creationId xmlns:p14="http://schemas.microsoft.com/office/powerpoint/2010/main" val="39090459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u contenu 1">
            <a:extLst>
              <a:ext uri="{FF2B5EF4-FFF2-40B4-BE49-F238E27FC236}">
                <a16:creationId xmlns:a16="http://schemas.microsoft.com/office/drawing/2014/main" id="{1B82DF8D-FDA2-6491-B895-244BB76D848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>
              <a:buFont typeface="Arial" panose="020B0604020202020204" pitchFamily="34" charset="0"/>
              <a:buChar char="•"/>
            </a:pPr>
            <a:r>
              <a:rPr lang="fr-FR" dirty="0"/>
              <a:t> </a:t>
            </a:r>
            <a:r>
              <a:rPr lang="fr-FR" dirty="0">
                <a:effectLst/>
              </a:rPr>
              <a:t>Généralement 3 grands moments :</a:t>
            </a:r>
          </a:p>
          <a:p>
            <a:pPr marL="800100" lvl="1" indent="-342900">
              <a:buFont typeface="+mj-lt"/>
              <a:buAutoNum type="arabicPeriod"/>
            </a:pPr>
            <a:r>
              <a:rPr lang="fr-FR" dirty="0">
                <a:effectLst/>
              </a:rPr>
              <a:t>Apprentissage des </a:t>
            </a:r>
            <a:r>
              <a:rPr lang="fr-FR" b="1" dirty="0">
                <a:effectLst/>
              </a:rPr>
              <a:t>notions</a:t>
            </a:r>
            <a:r>
              <a:rPr lang="fr-FR" dirty="0">
                <a:effectLst/>
              </a:rPr>
              <a:t> statistiques</a:t>
            </a:r>
          </a:p>
          <a:p>
            <a:pPr marL="800100" lvl="1" indent="-342900">
              <a:buFont typeface="+mj-lt"/>
              <a:buAutoNum type="arabicPeriod"/>
            </a:pPr>
            <a:r>
              <a:rPr lang="fr-FR" dirty="0">
                <a:effectLst/>
              </a:rPr>
              <a:t>Illustration et </a:t>
            </a:r>
            <a:r>
              <a:rPr lang="fr-FR" b="1" dirty="0">
                <a:effectLst/>
              </a:rPr>
              <a:t>application</a:t>
            </a:r>
            <a:r>
              <a:rPr lang="fr-FR" dirty="0">
                <a:effectLst/>
              </a:rPr>
              <a:t> sur le jeu de données</a:t>
            </a:r>
          </a:p>
          <a:p>
            <a:pPr marL="800100" lvl="1" indent="-342900">
              <a:buFont typeface="+mj-lt"/>
              <a:buAutoNum type="arabicPeriod"/>
            </a:pPr>
            <a:r>
              <a:rPr lang="fr-FR" dirty="0">
                <a:effectLst/>
              </a:rPr>
              <a:t>Application/</a:t>
            </a:r>
            <a:r>
              <a:rPr lang="fr-FR" b="1" dirty="0">
                <a:effectLst/>
              </a:rPr>
              <a:t>travail en groupe </a:t>
            </a:r>
            <a:r>
              <a:rPr lang="fr-FR" dirty="0">
                <a:effectLst/>
              </a:rPr>
              <a:t>pour avancer sur le ‘4 pages’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fr-FR" dirty="0">
                <a:effectLst/>
              </a:rPr>
              <a:t> La mise en œuvre sur jeux de données, particulièrement celui de l’enquête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fr-FR" dirty="0">
                <a:effectLst/>
              </a:rPr>
              <a:t> Maitriser les manipulations dans JAMOVI et notions stat d’une séance à l’autre</a:t>
            </a:r>
          </a:p>
          <a:p>
            <a:pPr lvl="1">
              <a:buFont typeface="Wingdings" pitchFamily="2" charset="2"/>
              <a:buChar char="§"/>
            </a:pPr>
            <a:r>
              <a:rPr lang="fr-FR" dirty="0">
                <a:effectLst/>
              </a:rPr>
              <a:t>Révision des manips / test / entraide</a:t>
            </a:r>
          </a:p>
        </p:txBody>
      </p:sp>
      <p:sp>
        <p:nvSpPr>
          <p:cNvPr id="3" name="Titre 2">
            <a:extLst>
              <a:ext uri="{FF2B5EF4-FFF2-40B4-BE49-F238E27FC236}">
                <a16:creationId xmlns:a16="http://schemas.microsoft.com/office/drawing/2014/main" id="{E40AC617-358A-B0D4-3130-299B43CE6EB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Déroulement des séances</a:t>
            </a:r>
          </a:p>
        </p:txBody>
      </p:sp>
      <p:sp>
        <p:nvSpPr>
          <p:cNvPr id="4" name="Espace réservé du texte 3">
            <a:extLst>
              <a:ext uri="{FF2B5EF4-FFF2-40B4-BE49-F238E27FC236}">
                <a16:creationId xmlns:a16="http://schemas.microsoft.com/office/drawing/2014/main" id="{B176906E-7357-FF2D-A046-5B8F2BAC4D41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96493839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re 2">
            <a:extLst>
              <a:ext uri="{FF2B5EF4-FFF2-40B4-BE49-F238E27FC236}">
                <a16:creationId xmlns:a16="http://schemas.microsoft.com/office/drawing/2014/main" id="{321CD220-E498-24B3-8303-1C33BBAD65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Évaluation : modalités et attendus</a:t>
            </a:r>
          </a:p>
        </p:txBody>
      </p:sp>
      <p:graphicFrame>
        <p:nvGraphicFramePr>
          <p:cNvPr id="5" name="Espace réservé du contenu 4">
            <a:extLst>
              <a:ext uri="{FF2B5EF4-FFF2-40B4-BE49-F238E27FC236}">
                <a16:creationId xmlns:a16="http://schemas.microsoft.com/office/drawing/2014/main" id="{CBC686AA-1D0A-9795-FD25-ADFDA1061F85}"/>
              </a:ext>
            </a:extLst>
          </p:cNvPr>
          <p:cNvGraphicFramePr>
            <a:graphicFrameLocks noGrp="1"/>
          </p:cNvGraphicFramePr>
          <p:nvPr>
            <p:ph sz="half" idx="1"/>
            <p:extLst>
              <p:ext uri="{D42A27DB-BD31-4B8C-83A1-F6EECF244321}">
                <p14:modId xmlns:p14="http://schemas.microsoft.com/office/powerpoint/2010/main" val="2798558021"/>
              </p:ext>
            </p:extLst>
          </p:nvPr>
        </p:nvGraphicFramePr>
        <p:xfrm>
          <a:off x="6216969" y="2246693"/>
          <a:ext cx="5684299" cy="3616963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024311">
                  <a:extLst>
                    <a:ext uri="{9D8B030D-6E8A-4147-A177-3AD203B41FA5}">
                      <a16:colId xmlns:a16="http://schemas.microsoft.com/office/drawing/2014/main" val="2024827599"/>
                    </a:ext>
                  </a:extLst>
                </a:gridCol>
                <a:gridCol w="1659988">
                  <a:extLst>
                    <a:ext uri="{9D8B030D-6E8A-4147-A177-3AD203B41FA5}">
                      <a16:colId xmlns:a16="http://schemas.microsoft.com/office/drawing/2014/main" val="475668153"/>
                    </a:ext>
                  </a:extLst>
                </a:gridCol>
              </a:tblGrid>
              <a:tr h="695075">
                <a:tc>
                  <a:txBody>
                    <a:bodyPr/>
                    <a:lstStyle/>
                    <a:p>
                      <a:pPr>
                        <a:spcBef>
                          <a:spcPts val="180"/>
                        </a:spcBef>
                        <a:spcAft>
                          <a:spcPts val="180"/>
                        </a:spcAft>
                      </a:pPr>
                      <a:r>
                        <a:rPr lang="fr-FR" sz="1800" dirty="0">
                          <a:effectLst/>
                        </a:rPr>
                        <a:t>Exercices</a:t>
                      </a:r>
                      <a:endParaRPr lang="fr-FR" sz="18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33673" marR="33673" marT="0" marB="0" anchor="ctr"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Bef>
                          <a:spcPts val="180"/>
                        </a:spcBef>
                        <a:spcAft>
                          <a:spcPts val="180"/>
                        </a:spcAft>
                      </a:pPr>
                      <a:r>
                        <a:rPr lang="fr-FR" sz="1800">
                          <a:effectLst/>
                        </a:rPr>
                        <a:t>Coefficient</a:t>
                      </a:r>
                      <a:endParaRPr lang="fr-FR" sz="18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33673" marR="33673" marT="0" marB="0" anchor="ctr">
                    <a:solidFill>
                      <a:schemeClr val="accent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43215820"/>
                  </a:ext>
                </a:extLst>
              </a:tr>
              <a:tr h="469819">
                <a:tc>
                  <a:txBody>
                    <a:bodyPr/>
                    <a:lstStyle/>
                    <a:p>
                      <a:pPr>
                        <a:spcBef>
                          <a:spcPts val="180"/>
                        </a:spcBef>
                        <a:spcAft>
                          <a:spcPts val="180"/>
                        </a:spcAft>
                      </a:pPr>
                      <a:r>
                        <a:rPr lang="fr-FR" sz="1800" dirty="0">
                          <a:effectLst/>
                        </a:rPr>
                        <a:t>‘4 pages’ rendu final</a:t>
                      </a:r>
                      <a:endParaRPr lang="fr-FR" sz="18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33673" marR="33673" marT="0" marB="0" anchor="ctr"/>
                </a:tc>
                <a:tc>
                  <a:txBody>
                    <a:bodyPr/>
                    <a:lstStyle/>
                    <a:p>
                      <a:pPr>
                        <a:spcBef>
                          <a:spcPts val="180"/>
                        </a:spcBef>
                        <a:spcAft>
                          <a:spcPts val="180"/>
                        </a:spcAft>
                      </a:pPr>
                      <a:r>
                        <a:rPr lang="fr-FR" sz="1800" dirty="0">
                          <a:effectLst/>
                        </a:rPr>
                        <a:t>50 %</a:t>
                      </a:r>
                      <a:endParaRPr lang="fr-FR" sz="18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33673" marR="33673" marT="0" marB="0" anchor="ctr"/>
                </a:tc>
                <a:extLst>
                  <a:ext uri="{0D108BD9-81ED-4DB2-BD59-A6C34878D82A}">
                    <a16:rowId xmlns:a16="http://schemas.microsoft.com/office/drawing/2014/main" val="3953946084"/>
                  </a:ext>
                </a:extLst>
              </a:tr>
              <a:tr h="469819">
                <a:tc>
                  <a:txBody>
                    <a:bodyPr/>
                    <a:lstStyle/>
                    <a:p>
                      <a:pPr>
                        <a:spcBef>
                          <a:spcPts val="180"/>
                        </a:spcBef>
                        <a:spcAft>
                          <a:spcPts val="180"/>
                        </a:spcAft>
                      </a:pPr>
                      <a:r>
                        <a:rPr lang="fr-FR" sz="1800" dirty="0">
                          <a:effectLst/>
                        </a:rPr>
                        <a:t>Rendus intermédiaires du ‘4 pages’</a:t>
                      </a:r>
                      <a:endParaRPr lang="fr-FR" sz="18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33673" marR="33673" marT="0" marB="0" anchor="ctr"/>
                </a:tc>
                <a:tc>
                  <a:txBody>
                    <a:bodyPr/>
                    <a:lstStyle/>
                    <a:p>
                      <a:pPr>
                        <a:spcBef>
                          <a:spcPts val="180"/>
                        </a:spcBef>
                        <a:spcAft>
                          <a:spcPts val="180"/>
                        </a:spcAft>
                      </a:pPr>
                      <a:r>
                        <a:rPr lang="fr-FR" sz="1800" dirty="0">
                          <a:effectLst/>
                        </a:rPr>
                        <a:t>30 % </a:t>
                      </a:r>
                      <a:endParaRPr lang="fr-FR" sz="18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33673" marR="33673" marT="0" marB="0" anchor="ctr"/>
                </a:tc>
                <a:extLst>
                  <a:ext uri="{0D108BD9-81ED-4DB2-BD59-A6C34878D82A}">
                    <a16:rowId xmlns:a16="http://schemas.microsoft.com/office/drawing/2014/main" val="1718741678"/>
                  </a:ext>
                </a:extLst>
              </a:tr>
              <a:tr h="469819">
                <a:tc>
                  <a:txBody>
                    <a:bodyPr/>
                    <a:lstStyle/>
                    <a:p>
                      <a:pPr>
                        <a:spcBef>
                          <a:spcPts val="180"/>
                        </a:spcBef>
                        <a:spcAft>
                          <a:spcPts val="180"/>
                        </a:spcAft>
                      </a:pPr>
                      <a:r>
                        <a:rPr lang="fr-FR" sz="1800" dirty="0">
                          <a:effectLst/>
                        </a:rPr>
                        <a:t>Exposé</a:t>
                      </a:r>
                      <a:endParaRPr lang="fr-FR" sz="18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33673" marR="33673" marT="0" marB="0" anchor="ctr"/>
                </a:tc>
                <a:tc>
                  <a:txBody>
                    <a:bodyPr/>
                    <a:lstStyle/>
                    <a:p>
                      <a:pPr>
                        <a:spcBef>
                          <a:spcPts val="180"/>
                        </a:spcBef>
                        <a:spcAft>
                          <a:spcPts val="180"/>
                        </a:spcAft>
                      </a:pPr>
                      <a:r>
                        <a:rPr lang="fr-FR" sz="1800" dirty="0">
                          <a:effectLst/>
                        </a:rPr>
                        <a:t>20 % </a:t>
                      </a:r>
                      <a:endParaRPr lang="fr-FR" sz="18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33673" marR="33673" marT="0" marB="0" anchor="ctr"/>
                </a:tc>
                <a:extLst>
                  <a:ext uri="{0D108BD9-81ED-4DB2-BD59-A6C34878D82A}">
                    <a16:rowId xmlns:a16="http://schemas.microsoft.com/office/drawing/2014/main" val="972215155"/>
                  </a:ext>
                </a:extLst>
              </a:tr>
              <a:tr h="1042612">
                <a:tc>
                  <a:txBody>
                    <a:bodyPr/>
                    <a:lstStyle/>
                    <a:p>
                      <a:pPr>
                        <a:spcBef>
                          <a:spcPts val="180"/>
                        </a:spcBef>
                        <a:spcAft>
                          <a:spcPts val="180"/>
                        </a:spcAft>
                      </a:pPr>
                      <a:r>
                        <a:rPr lang="fr-FR" sz="1800" dirty="0">
                          <a:effectLst/>
                        </a:rPr>
                        <a:t>Assiduité/participation/solidarité</a:t>
                      </a:r>
                      <a:endParaRPr lang="fr-FR" sz="18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33673" marR="33673" marT="0" marB="0" anchor="ctr"/>
                </a:tc>
                <a:tc>
                  <a:txBody>
                    <a:bodyPr/>
                    <a:lstStyle/>
                    <a:p>
                      <a:pPr>
                        <a:spcBef>
                          <a:spcPts val="180"/>
                        </a:spcBef>
                        <a:spcAft>
                          <a:spcPts val="180"/>
                        </a:spcAft>
                      </a:pPr>
                      <a:r>
                        <a:rPr lang="fr-FR" sz="1800">
                          <a:effectLst/>
                        </a:rPr>
                        <a:t>Ajustement sur la moyenne </a:t>
                      </a:r>
                      <a:endParaRPr lang="fr-FR" sz="18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33673" marR="33673" marT="0" marB="0" anchor="ctr"/>
                </a:tc>
                <a:extLst>
                  <a:ext uri="{0D108BD9-81ED-4DB2-BD59-A6C34878D82A}">
                    <a16:rowId xmlns:a16="http://schemas.microsoft.com/office/drawing/2014/main" val="1241879579"/>
                  </a:ext>
                </a:extLst>
              </a:tr>
              <a:tr h="469819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180"/>
                        </a:spcBef>
                        <a:spcAft>
                          <a:spcPts val="18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800" b="1" dirty="0">
                          <a:effectLst/>
                        </a:rPr>
                        <a:t>Total</a:t>
                      </a:r>
                      <a:endParaRPr lang="fr-FR" sz="1800" b="1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33673" marR="33673" marT="0" marB="0" anchor="ctr"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180"/>
                        </a:spcBef>
                        <a:spcAft>
                          <a:spcPts val="18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800" b="1" dirty="0">
                          <a:effectLst/>
                        </a:rPr>
                        <a:t>100 % </a:t>
                      </a:r>
                      <a:endParaRPr lang="fr-FR" sz="1800" b="1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33673" marR="33673" marT="0" marB="0" anchor="ctr">
                    <a:solidFill>
                      <a:schemeClr val="accent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44459686"/>
                  </a:ext>
                </a:extLst>
              </a:tr>
            </a:tbl>
          </a:graphicData>
        </a:graphic>
      </p:graphicFrame>
      <p:sp>
        <p:nvSpPr>
          <p:cNvPr id="6" name="Espace réservé du contenu 5">
            <a:extLst>
              <a:ext uri="{FF2B5EF4-FFF2-40B4-BE49-F238E27FC236}">
                <a16:creationId xmlns:a16="http://schemas.microsoft.com/office/drawing/2014/main" id="{4DF901A7-03C3-64CE-936A-71B9C922ECD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1206182" y="2246693"/>
            <a:ext cx="4768850" cy="3616963"/>
          </a:xfrm>
        </p:spPr>
        <p:txBody>
          <a:bodyPr>
            <a:normAutofit/>
          </a:bodyPr>
          <a:lstStyle/>
          <a:p>
            <a:pPr>
              <a:buFont typeface="Arial" panose="020B0604020202020204" pitchFamily="34" charset="0"/>
              <a:buChar char="•"/>
            </a:pPr>
            <a:r>
              <a:rPr lang="fr-FR" dirty="0"/>
              <a:t> Réalisation d’un ‘</a:t>
            </a:r>
            <a:r>
              <a:rPr lang="fr-FR" b="1" dirty="0"/>
              <a:t>4 pages</a:t>
            </a:r>
            <a:r>
              <a:rPr lang="fr-FR" dirty="0"/>
              <a:t>’ par groupe de 3 </a:t>
            </a:r>
            <a:r>
              <a:rPr lang="fr-FR" dirty="0" err="1"/>
              <a:t>étudiant·es</a:t>
            </a:r>
            <a:endParaRPr lang="fr-FR" dirty="0"/>
          </a:p>
          <a:p>
            <a:pPr>
              <a:buFont typeface="Arial" panose="020B0604020202020204" pitchFamily="34" charset="0"/>
              <a:buChar char="•"/>
            </a:pPr>
            <a:r>
              <a:rPr lang="fr-FR" dirty="0"/>
              <a:t> Travaux </a:t>
            </a:r>
            <a:r>
              <a:rPr lang="fr-FR" b="1" dirty="0"/>
              <a:t>intermédiaires</a:t>
            </a:r>
            <a:r>
              <a:rPr lang="fr-FR" dirty="0"/>
              <a:t> en vue de la réalisation du ‘4 pages’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fr-FR" dirty="0"/>
              <a:t> Exposé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fr-FR" dirty="0"/>
              <a:t> </a:t>
            </a:r>
            <a:r>
              <a:rPr lang="fr-FR" b="1" dirty="0"/>
              <a:t>Participation</a:t>
            </a:r>
            <a:r>
              <a:rPr lang="fr-FR" dirty="0"/>
              <a:t> (+ assiduité, ponctualité et solidarité) / Plagiat</a:t>
            </a:r>
          </a:p>
        </p:txBody>
      </p:sp>
      <p:sp>
        <p:nvSpPr>
          <p:cNvPr id="7" name="Espace réservé du texte 6">
            <a:extLst>
              <a:ext uri="{FF2B5EF4-FFF2-40B4-BE49-F238E27FC236}">
                <a16:creationId xmlns:a16="http://schemas.microsoft.com/office/drawing/2014/main" id="{40296CB5-EBA9-4BA8-523E-1E4C268569CB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19445985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u contenu 1">
            <a:extLst>
              <a:ext uri="{FF2B5EF4-FFF2-40B4-BE49-F238E27FC236}">
                <a16:creationId xmlns:a16="http://schemas.microsoft.com/office/drawing/2014/main" id="{07D0B874-304B-EA57-423E-D53AC71A6EC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fr-FR" b="1" dirty="0"/>
              <a:t>Exemples :</a:t>
            </a:r>
            <a:r>
              <a:rPr lang="fr-FR" dirty="0"/>
              <a:t> dispo sur le (magnifique) Moodle du cours</a:t>
            </a:r>
          </a:p>
          <a:p>
            <a:pPr lvl="1">
              <a:buFont typeface="Wingdings" pitchFamily="2" charset="2"/>
              <a:buChar char="§"/>
            </a:pPr>
            <a:r>
              <a:rPr lang="fr-FR" dirty="0"/>
              <a:t>section méthodologie et bibliographie (doublon)</a:t>
            </a:r>
          </a:p>
          <a:p>
            <a:pPr marL="0">
              <a:spcBef>
                <a:spcPts val="1800"/>
              </a:spcBef>
              <a:buNone/>
            </a:pPr>
            <a:r>
              <a:rPr lang="fr-FR" b="1" dirty="0"/>
              <a:t>Jeux de données</a:t>
            </a:r>
          </a:p>
          <a:p>
            <a:pPr lvl="1">
              <a:buFont typeface="Wingdings" pitchFamily="2" charset="2"/>
              <a:buChar char="§"/>
            </a:pPr>
            <a:r>
              <a:rPr lang="fr-FR" dirty="0"/>
              <a:t>disponibles dans la section méthodologie</a:t>
            </a:r>
          </a:p>
          <a:p>
            <a:pPr marL="0" indent="0">
              <a:spcBef>
                <a:spcPts val="1800"/>
              </a:spcBef>
              <a:buNone/>
            </a:pPr>
            <a:r>
              <a:rPr lang="fr-FR" b="1" dirty="0"/>
              <a:t>Attentes / consignes</a:t>
            </a:r>
          </a:p>
          <a:p>
            <a:pPr lvl="1">
              <a:buFont typeface="Wingdings" pitchFamily="2" charset="2"/>
              <a:buChar char="§"/>
            </a:pPr>
            <a:r>
              <a:rPr lang="fr-FR" dirty="0"/>
              <a:t>premiers éléments en ligne (section évaluation)</a:t>
            </a:r>
          </a:p>
          <a:p>
            <a:pPr lvl="1">
              <a:buFont typeface="Wingdings" pitchFamily="2" charset="2"/>
              <a:buChar char="§"/>
            </a:pPr>
            <a:r>
              <a:rPr lang="fr-FR" dirty="0"/>
              <a:t>précisions au fil du semestre</a:t>
            </a:r>
          </a:p>
        </p:txBody>
      </p:sp>
      <p:sp>
        <p:nvSpPr>
          <p:cNvPr id="3" name="Titre 2">
            <a:extLst>
              <a:ext uri="{FF2B5EF4-FFF2-40B4-BE49-F238E27FC236}">
                <a16:creationId xmlns:a16="http://schemas.microsoft.com/office/drawing/2014/main" id="{74DB9D62-9B9A-6103-1EC3-121A904ACB4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4 pages ?</a:t>
            </a:r>
          </a:p>
        </p:txBody>
      </p:sp>
      <p:sp>
        <p:nvSpPr>
          <p:cNvPr id="4" name="Espace réservé du texte 3">
            <a:extLst>
              <a:ext uri="{FF2B5EF4-FFF2-40B4-BE49-F238E27FC236}">
                <a16:creationId xmlns:a16="http://schemas.microsoft.com/office/drawing/2014/main" id="{F482B884-DB3D-B1D4-D793-E1CFF899BDF4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9727579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>
            <a:lumMod val="8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u contenu 1">
            <a:extLst>
              <a:ext uri="{FF2B5EF4-FFF2-40B4-BE49-F238E27FC236}">
                <a16:creationId xmlns:a16="http://schemas.microsoft.com/office/drawing/2014/main" id="{F6C33360-B8F0-2FCF-227B-68D019CCD53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77500" lnSpcReduction="20000"/>
          </a:bodyPr>
          <a:lstStyle/>
          <a:p>
            <a:r>
              <a:rPr lang="fr-FR" dirty="0"/>
              <a:t>Le « 4-pages » est le rendu final du deuxième semestre de l'atelier DECA. Il s’inspire des briefs statistiques publiés par l’INSEE, type « INSEE Première » (voir les exemples proposés dans le dossier). Son format, court et très synthétique, doit s’appuyer sur l’utilisation et l’exploitation des bases de données mises à </a:t>
            </a:r>
            <a:r>
              <a:rPr lang="fr-FR" dirty="0" err="1"/>
              <a:t>dispostion</a:t>
            </a:r>
            <a:r>
              <a:rPr lang="fr-FR" dirty="0"/>
              <a:t> sur Moodle). Ce 4 pages répond à plusieurs objectifs pédagogiques et d'évaluation: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fr-FR" sz="2100" dirty="0"/>
              <a:t>Formuler une question « quantitative » qui soit problématisée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fr-FR" sz="2100" dirty="0"/>
              <a:t>Sélectionner et manipuler une base de données quantitative (nettoyage des données, recodage des variables) permettant de répondre à votre question [ici contraint par les données mises à disposition]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fr-FR" sz="2100" dirty="0"/>
              <a:t>Décrire des variables d'intérêt (production d'indicateurs et analyses descriptives adaptées)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fr-FR" sz="2100" dirty="0"/>
              <a:t>Analyser les liens entre variables pour "confirmer ou infirmer" des hypothèses (analyses statistiques adaptées : tableaux croisés, graphiques)</a:t>
            </a:r>
          </a:p>
          <a:p>
            <a:r>
              <a:rPr lang="fr-FR" dirty="0"/>
              <a:t>Le "4 pages" doit être rédigé à partir de la formulation d’une problématique (question) claire, à laquelle vous répondez dans un plan organisé, mêlant éléments théoriques, empiriques et analytiques (interprétatifs). Il est recommandé d’intégrer un encadré « méthodes » dans lequel vous préciserez les variables choisies pour mesurer un phénomène, ainsi que les recodages appliqués (une solution alternative est de présenter à la fin du rapport  - après la conclusion - une partie « Définitions », comme dans les « 4-pages » de l’INSEE, partie où vous présenterez les définitions des concepts utilisés, voire l’opérationnalisation de vos concepts dans les données).</a:t>
            </a:r>
          </a:p>
        </p:txBody>
      </p:sp>
      <p:sp>
        <p:nvSpPr>
          <p:cNvPr id="3" name="Titre 2">
            <a:extLst>
              <a:ext uri="{FF2B5EF4-FFF2-40B4-BE49-F238E27FC236}">
                <a16:creationId xmlns:a16="http://schemas.microsoft.com/office/drawing/2014/main" id="{AB741A7F-0FCD-714C-5E98-45BA51F9934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b="1" dirty="0"/>
              <a:t>Guide : 1. Objectifs du "4 pages" </a:t>
            </a:r>
            <a:endParaRPr lang="fr-FR" dirty="0"/>
          </a:p>
        </p:txBody>
      </p:sp>
      <p:sp>
        <p:nvSpPr>
          <p:cNvPr id="4" name="Espace réservé du texte 3">
            <a:extLst>
              <a:ext uri="{FF2B5EF4-FFF2-40B4-BE49-F238E27FC236}">
                <a16:creationId xmlns:a16="http://schemas.microsoft.com/office/drawing/2014/main" id="{5CA37913-0AE5-F56B-DB4A-8CDC671CDD14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307295487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>
            <a:lumMod val="8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u contenu 1">
            <a:extLst>
              <a:ext uri="{FF2B5EF4-FFF2-40B4-BE49-F238E27FC236}">
                <a16:creationId xmlns:a16="http://schemas.microsoft.com/office/drawing/2014/main" id="{56994934-F4FD-D80F-41DB-F57723EFD4F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fr-FR" dirty="0"/>
              <a:t>Comme son nom l’indique, la taille du rapport est de 4 pages. Comme pour les « 4-pages » de l’INSEE, il est préférable de présenter votre texte en plusieurs colonnes. Plusieurs exemples de l’INSEE (et d'autres) vous sont fournis sur le </a:t>
            </a:r>
            <a:r>
              <a:rPr lang="fr-FR" dirty="0" err="1"/>
              <a:t>moodle</a:t>
            </a:r>
            <a:r>
              <a:rPr lang="fr-FR" dirty="0"/>
              <a:t>. Les références bibliographiques doivent être harmonisées. La structure adoptée doit comporter les éléments suivants :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fr-FR" dirty="0"/>
              <a:t>Résumé (5 lignes : objet, périmètre, problématique, littérature, hypothèse, méthode, principaux </a:t>
            </a:r>
            <a:r>
              <a:rPr lang="fr-FR" dirty="0" err="1"/>
              <a:t>résultats,conclusion</a:t>
            </a:r>
            <a:r>
              <a:rPr lang="fr-FR" dirty="0"/>
              <a:t>)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fr-FR" dirty="0"/>
              <a:t>Introduction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fr-FR" dirty="0"/>
              <a:t>Parties et paragraphes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fr-FR" dirty="0"/>
              <a:t>Conclusion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fr-FR" dirty="0"/>
              <a:t>Bibliographie/webographie (respect des normes en notes de bas de page et dans la biblio finale)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fr-FR" dirty="0"/>
              <a:t>Définitions</a:t>
            </a:r>
          </a:p>
          <a:p>
            <a:r>
              <a:rPr lang="fr-FR" dirty="0"/>
              <a:t>Attention, les annexes ne sont pas autorisées. Les « 4-pages » seront soumis à une vérification anti-plagiat grâce au logiciel </a:t>
            </a:r>
            <a:r>
              <a:rPr lang="fr-FR" dirty="0" err="1"/>
              <a:t>Compilatio</a:t>
            </a:r>
            <a:r>
              <a:rPr lang="fr-FR" dirty="0"/>
              <a:t>. Si vous utilisez un outil d'IA (comme chat GPT) vous devez également le signaler et être transparent sur la manière dont vous l'avez utilisé. </a:t>
            </a:r>
          </a:p>
        </p:txBody>
      </p:sp>
      <p:sp>
        <p:nvSpPr>
          <p:cNvPr id="3" name="Titre 2">
            <a:extLst>
              <a:ext uri="{FF2B5EF4-FFF2-40B4-BE49-F238E27FC236}">
                <a16:creationId xmlns:a16="http://schemas.microsoft.com/office/drawing/2014/main" id="{A82823F8-31D4-A82C-B1EA-E057D43B33D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fr-FR" b="1" dirty="0"/>
              <a:t>Guide : 2. Format et structure générale du "4 pages"</a:t>
            </a:r>
            <a:endParaRPr lang="fr-FR" dirty="0"/>
          </a:p>
        </p:txBody>
      </p:sp>
      <p:sp>
        <p:nvSpPr>
          <p:cNvPr id="4" name="Espace réservé du texte 3">
            <a:extLst>
              <a:ext uri="{FF2B5EF4-FFF2-40B4-BE49-F238E27FC236}">
                <a16:creationId xmlns:a16="http://schemas.microsoft.com/office/drawing/2014/main" id="{1EED714E-5258-F632-C62A-6BAD593A2638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587177501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u contenu 1">
            <a:extLst>
              <a:ext uri="{FF2B5EF4-FFF2-40B4-BE49-F238E27FC236}">
                <a16:creationId xmlns:a16="http://schemas.microsoft.com/office/drawing/2014/main" id="{2FDD7C26-BBDE-4005-3347-5252681E3E8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pPr marL="457200" lvl="0" indent="-457200" algn="just">
              <a:spcBef>
                <a:spcPts val="600"/>
              </a:spcBef>
              <a:spcAft>
                <a:spcPts val="400"/>
              </a:spcAft>
              <a:buFont typeface="+mj-lt"/>
              <a:buAutoNum type="arabicPeriod"/>
            </a:pPr>
            <a:r>
              <a:rPr lang="fr-FR" b="1" dirty="0">
                <a:effectLst/>
              </a:rPr>
              <a:t>Projet de ‘4 pages’ </a:t>
            </a:r>
            <a:r>
              <a:rPr lang="fr-FR" dirty="0">
                <a:effectLst/>
              </a:rPr>
              <a:t>(question posée - jeu de </a:t>
            </a:r>
            <a:r>
              <a:rPr lang="fr-FR">
                <a:effectLst/>
              </a:rPr>
              <a:t>données mobilisé).</a:t>
            </a:r>
            <a:endParaRPr lang="fr-FR" dirty="0">
              <a:effectLst/>
            </a:endParaRPr>
          </a:p>
          <a:p>
            <a:pPr marL="457200" lvl="0" indent="-457200" algn="just">
              <a:spcBef>
                <a:spcPts val="600"/>
              </a:spcBef>
              <a:spcAft>
                <a:spcPts val="400"/>
              </a:spcAft>
              <a:buFont typeface="+mj-lt"/>
              <a:buAutoNum type="arabicPeriod"/>
            </a:pPr>
            <a:r>
              <a:rPr lang="fr-FR" b="1" dirty="0">
                <a:effectLst/>
              </a:rPr>
              <a:t>Travail biblio : </a:t>
            </a:r>
            <a:r>
              <a:rPr lang="fr-FR" dirty="0">
                <a:effectLst/>
              </a:rPr>
              <a:t>identification de 3 travaux de référence sur la thématique choisie pour le ‘</a:t>
            </a:r>
            <a:r>
              <a:rPr lang="fr-FR" i="1" dirty="0">
                <a:effectLst/>
              </a:rPr>
              <a:t>4 pages</a:t>
            </a:r>
            <a:r>
              <a:rPr lang="fr-FR" dirty="0">
                <a:effectLst/>
              </a:rPr>
              <a:t>’ (articles, ouvrages scientifiques) accompagnés pour chacune d’une fiche synthétique de lecture d’une page (problématique - jeu de données et variables utilisées - principaux résultats </a:t>
            </a:r>
            <a:r>
              <a:rPr lang="fr-FR" b="1" dirty="0">
                <a:effectLst/>
              </a:rPr>
              <a:t>en lien avec le projet du </a:t>
            </a:r>
            <a:r>
              <a:rPr lang="fr-FR" b="1" i="1" dirty="0">
                <a:effectLst/>
              </a:rPr>
              <a:t>‘4 pages’</a:t>
            </a:r>
            <a:r>
              <a:rPr lang="fr-FR" dirty="0">
                <a:effectLst/>
              </a:rPr>
              <a:t>) + répartition du travail (qui a fait quoi). NB : il est attendu que les groupes continuent d’enrichir ces premières lectures au cours du semestre, pour améliorer le travail final. La bibliographie finale se doit donc d’être davantage étoffée.</a:t>
            </a:r>
          </a:p>
          <a:p>
            <a:pPr marL="457200" lvl="0" indent="-457200" algn="just">
              <a:spcBef>
                <a:spcPts val="600"/>
              </a:spcBef>
              <a:spcAft>
                <a:spcPts val="400"/>
              </a:spcAft>
              <a:buFont typeface="+mj-lt"/>
              <a:buAutoNum type="arabicPeriod"/>
            </a:pPr>
            <a:r>
              <a:rPr lang="fr-FR" b="1" dirty="0">
                <a:effectLst/>
              </a:rPr>
              <a:t>Schéma causal </a:t>
            </a:r>
            <a:r>
              <a:rPr lang="fr-FR" dirty="0">
                <a:effectLst/>
              </a:rPr>
              <a:t>(opérationnalisation) : formulation de 2 à 3 hypothèses de travail avec leur mode d’opérationnalisation (quelles variables ? quels recodages ? quelle(s) méthode(s) statistique(s) ? + Mise en œuvre pour une des hypothèses). + répartition du travail (qui a fait quoi).</a:t>
            </a:r>
          </a:p>
          <a:p>
            <a:pPr marL="342900" lvl="0" indent="-342900" algn="just">
              <a:spcAft>
                <a:spcPts val="1000"/>
              </a:spcAft>
            </a:pPr>
            <a:r>
              <a:rPr lang="fr-FR" dirty="0">
                <a:effectLst/>
                <a:cs typeface="Calibri Light" panose="020F0302020204030204" pitchFamily="34" charset="0"/>
                <a:sym typeface="Wingdings" pitchFamily="2" charset="2"/>
              </a:rPr>
              <a:t></a:t>
            </a:r>
            <a:r>
              <a:rPr lang="fr-FR" dirty="0">
                <a:effectLst/>
              </a:rPr>
              <a:t> Ces 3 travaux intermédiaires feront l’objet d’explicitations sur les attendus et les critères d’évaluation au fur et à mesure du semestre. Pour chaque rendu intermédiaire, il est demandé de préciser qui a fait quoi dans le groupe (y compris tâches d’organisation, etc.).</a:t>
            </a:r>
            <a:endParaRPr lang="fr-FR" dirty="0"/>
          </a:p>
        </p:txBody>
      </p:sp>
      <p:sp>
        <p:nvSpPr>
          <p:cNvPr id="3" name="Titre 2">
            <a:extLst>
              <a:ext uri="{FF2B5EF4-FFF2-40B4-BE49-F238E27FC236}">
                <a16:creationId xmlns:a16="http://schemas.microsoft.com/office/drawing/2014/main" id="{248E7460-3D1B-CF6A-5A29-73A6B36FE5C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Rendus intermédiaires</a:t>
            </a:r>
          </a:p>
        </p:txBody>
      </p:sp>
      <p:sp>
        <p:nvSpPr>
          <p:cNvPr id="4" name="Espace réservé du texte 3">
            <a:extLst>
              <a:ext uri="{FF2B5EF4-FFF2-40B4-BE49-F238E27FC236}">
                <a16:creationId xmlns:a16="http://schemas.microsoft.com/office/drawing/2014/main" id="{4BBF1F88-B137-7962-038B-B4B06EB04EAC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463567767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u contenu 1">
            <a:extLst>
              <a:ext uri="{FF2B5EF4-FFF2-40B4-BE49-F238E27FC236}">
                <a16:creationId xmlns:a16="http://schemas.microsoft.com/office/drawing/2014/main" id="{AF5A0976-16F1-7582-BD23-4C6D8AB8486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FR" dirty="0"/>
              <a:t>Séance 2 : avoir créé les groupes avant la séance (et réfléchir au thème et jeux de données pressentis).</a:t>
            </a:r>
          </a:p>
          <a:p>
            <a:r>
              <a:rPr lang="fr-FR" dirty="0"/>
              <a:t>Séance 3 : </a:t>
            </a:r>
            <a:r>
              <a:rPr lang="fr-FR" b="1" dirty="0"/>
              <a:t>Rendu intermédiaire 1</a:t>
            </a:r>
            <a:r>
              <a:rPr lang="fr-FR" dirty="0"/>
              <a:t> (projet avec jeu de données choisi et justification)</a:t>
            </a:r>
          </a:p>
          <a:p>
            <a:r>
              <a:rPr lang="fr-FR" dirty="0"/>
              <a:t>Séance 6 : </a:t>
            </a:r>
            <a:r>
              <a:rPr lang="fr-FR" b="1" dirty="0"/>
              <a:t>Rendu intermédiaire 2 </a:t>
            </a:r>
            <a:r>
              <a:rPr lang="fr-FR" dirty="0"/>
              <a:t>(travail bibliographique)</a:t>
            </a:r>
          </a:p>
          <a:p>
            <a:r>
              <a:rPr lang="fr-FR" dirty="0"/>
              <a:t>Séance 8 : </a:t>
            </a:r>
            <a:r>
              <a:rPr lang="fr-FR" b="1" dirty="0"/>
              <a:t>Rendu intermédiaire 3</a:t>
            </a:r>
            <a:r>
              <a:rPr lang="fr-FR" dirty="0"/>
              <a:t> (schéma causal)</a:t>
            </a:r>
          </a:p>
          <a:p>
            <a:r>
              <a:rPr lang="fr-FR" dirty="0"/>
              <a:t>Séance 11 : </a:t>
            </a:r>
            <a:r>
              <a:rPr lang="fr-FR" b="1" dirty="0"/>
              <a:t>Exposé</a:t>
            </a:r>
            <a:r>
              <a:rPr lang="fr-FR" dirty="0"/>
              <a:t> en groupe sur le 4 pages </a:t>
            </a:r>
          </a:p>
          <a:p>
            <a:r>
              <a:rPr lang="fr-FR" dirty="0"/>
              <a:t>Fin du cours : Remise du </a:t>
            </a:r>
            <a:r>
              <a:rPr lang="fr-FR" b="1" dirty="0"/>
              <a:t>4 pages</a:t>
            </a:r>
            <a:endParaRPr lang="fr-FR" dirty="0"/>
          </a:p>
          <a:p>
            <a:pPr marL="0" indent="0">
              <a:buNone/>
            </a:pPr>
            <a:endParaRPr lang="fr-FR" dirty="0"/>
          </a:p>
        </p:txBody>
      </p:sp>
      <p:sp>
        <p:nvSpPr>
          <p:cNvPr id="3" name="Titre 2">
            <a:extLst>
              <a:ext uri="{FF2B5EF4-FFF2-40B4-BE49-F238E27FC236}">
                <a16:creationId xmlns:a16="http://schemas.microsoft.com/office/drawing/2014/main" id="{07414AC3-1458-C05C-052C-4C46E3F3C00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Date des rendus</a:t>
            </a:r>
          </a:p>
        </p:txBody>
      </p:sp>
      <p:sp>
        <p:nvSpPr>
          <p:cNvPr id="4" name="Espace réservé du texte 3">
            <a:extLst>
              <a:ext uri="{FF2B5EF4-FFF2-40B4-BE49-F238E27FC236}">
                <a16:creationId xmlns:a16="http://schemas.microsoft.com/office/drawing/2014/main" id="{70375E84-C283-B978-214A-1D0530D841F8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492551409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u contenu 1">
            <a:extLst>
              <a:ext uri="{FF2B5EF4-FFF2-40B4-BE49-F238E27FC236}">
                <a16:creationId xmlns:a16="http://schemas.microsoft.com/office/drawing/2014/main" id="{EEA30196-5E31-D866-8409-12AA17BAF77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FR" sz="2000" dirty="0">
                <a:effectLst/>
                <a:latin typeface="Calibri Light" panose="020F0302020204030204" pitchFamily="34" charset="0"/>
                <a:ea typeface="Times New Roman" panose="02020603050405020304" pitchFamily="18" charset="0"/>
              </a:rPr>
              <a:t>lecture d’un </a:t>
            </a:r>
            <a:r>
              <a:rPr lang="fr-FR" sz="2000" i="1" dirty="0">
                <a:effectLst/>
                <a:latin typeface="Calibri Light" panose="020F0302020204030204" pitchFamily="34" charset="0"/>
                <a:ea typeface="Times New Roman" panose="02020603050405020304" pitchFamily="18" charset="0"/>
              </a:rPr>
              <a:t>‘4 pages’</a:t>
            </a:r>
            <a:r>
              <a:rPr lang="fr-FR" sz="2000" dirty="0">
                <a:effectLst/>
                <a:latin typeface="Calibri Light" panose="020F0302020204030204" pitchFamily="34" charset="0"/>
                <a:ea typeface="Times New Roman" panose="02020603050405020304" pitchFamily="18" charset="0"/>
              </a:rPr>
              <a:t> pour comprendre l’exercice attendu (identifier dans ce </a:t>
            </a:r>
            <a:r>
              <a:rPr lang="fr-FR" sz="2000" i="1" dirty="0">
                <a:effectLst/>
                <a:latin typeface="Calibri Light" panose="020F0302020204030204" pitchFamily="34" charset="0"/>
                <a:ea typeface="Times New Roman" panose="02020603050405020304" pitchFamily="18" charset="0"/>
              </a:rPr>
              <a:t>‘4 pages’</a:t>
            </a:r>
            <a:r>
              <a:rPr lang="fr-FR" sz="2000" dirty="0">
                <a:effectLst/>
                <a:latin typeface="Calibri Light" panose="020F0302020204030204" pitchFamily="34" charset="0"/>
                <a:ea typeface="Times New Roman" panose="02020603050405020304" pitchFamily="18" charset="0"/>
              </a:rPr>
              <a:t> la question et la mise en œuvre empirique –&gt; passage des concepts à l’expérience empirique)</a:t>
            </a:r>
            <a:endParaRPr lang="fr-FR" sz="2000" dirty="0">
              <a:effectLst/>
              <a:latin typeface="Times New Roman" panose="02020603050405020304" pitchFamily="18" charset="0"/>
              <a:ea typeface="Times New Roman" panose="02020603050405020304" pitchFamily="18" charset="0"/>
            </a:endParaRPr>
          </a:p>
          <a:p>
            <a:endParaRPr lang="fr-FR" dirty="0"/>
          </a:p>
        </p:txBody>
      </p:sp>
      <p:sp>
        <p:nvSpPr>
          <p:cNvPr id="3" name="Titre 2">
            <a:extLst>
              <a:ext uri="{FF2B5EF4-FFF2-40B4-BE49-F238E27FC236}">
                <a16:creationId xmlns:a16="http://schemas.microsoft.com/office/drawing/2014/main" id="{07EA2345-5106-1A21-286C-92DD39364E3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Activité : lecture 4 pages - selon le temps</a:t>
            </a:r>
          </a:p>
        </p:txBody>
      </p:sp>
      <p:sp>
        <p:nvSpPr>
          <p:cNvPr id="4" name="Espace réservé du texte 3">
            <a:extLst>
              <a:ext uri="{FF2B5EF4-FFF2-40B4-BE49-F238E27FC236}">
                <a16:creationId xmlns:a16="http://schemas.microsoft.com/office/drawing/2014/main" id="{3D48D67E-85DC-1689-F1CF-D03206F8BB76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307283761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u contenu 1">
            <a:extLst>
              <a:ext uri="{FF2B5EF4-FFF2-40B4-BE49-F238E27FC236}">
                <a16:creationId xmlns:a16="http://schemas.microsoft.com/office/drawing/2014/main" id="{A1622F92-D47A-0501-61B3-6C9C0478BB8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/>
          </a:bodyPr>
          <a:lstStyle/>
          <a:p>
            <a:r>
              <a:rPr lang="fr-FR" dirty="0"/>
              <a:t>Logiciel libre et gratuit</a:t>
            </a:r>
          </a:p>
          <a:p>
            <a:r>
              <a:rPr lang="fr-FR" dirty="0"/>
              <a:t>Téléchargement : </a:t>
            </a:r>
            <a:r>
              <a:rPr lang="fr-FR" dirty="0">
                <a:hlinkClick r:id="rId2"/>
              </a:rPr>
              <a:t>https://www.jamovi.org/download.html</a:t>
            </a:r>
            <a:endParaRPr lang="fr-FR" dirty="0"/>
          </a:p>
          <a:p>
            <a:endParaRPr lang="fr-FR" dirty="0"/>
          </a:p>
          <a:p>
            <a:endParaRPr lang="fr-FR" dirty="0"/>
          </a:p>
          <a:p>
            <a:endParaRPr lang="fr-FR" dirty="0"/>
          </a:p>
          <a:p>
            <a:endParaRPr lang="fr-FR" dirty="0"/>
          </a:p>
          <a:p>
            <a:r>
              <a:rPr lang="fr-FR" b="1" dirty="0"/>
              <a:t>Attention</a:t>
            </a:r>
            <a:r>
              <a:rPr lang="fr-FR" dirty="0"/>
              <a:t> : Les groupes doivent s’assurer qu’ils disposent d’au moins 1 ordinateur capable d’utiliser JAMOVI (ce qui n’est pas le cas des tablettes par exemple).</a:t>
            </a:r>
          </a:p>
          <a:p>
            <a:r>
              <a:rPr lang="fr-FR" dirty="0"/>
              <a:t>En </a:t>
            </a:r>
            <a:r>
              <a:rPr lang="fr-FR" i="1" dirty="0"/>
              <a:t>théorie</a:t>
            </a:r>
            <a:r>
              <a:rPr lang="fr-FR" dirty="0"/>
              <a:t> disponible en ligne par navigateur -&gt; mais pas vraiment (cf. file attente, </a:t>
            </a:r>
            <a:r>
              <a:rPr lang="fr-FR" dirty="0" err="1"/>
              <a:t>ipad</a:t>
            </a:r>
            <a:r>
              <a:rPr lang="fr-FR" dirty="0"/>
              <a:t>, etc.)</a:t>
            </a:r>
            <a:endParaRPr lang="fr-FR" i="1" dirty="0"/>
          </a:p>
        </p:txBody>
      </p:sp>
      <p:sp>
        <p:nvSpPr>
          <p:cNvPr id="3" name="Titre 2">
            <a:extLst>
              <a:ext uri="{FF2B5EF4-FFF2-40B4-BE49-F238E27FC236}">
                <a16:creationId xmlns:a16="http://schemas.microsoft.com/office/drawing/2014/main" id="{443D9417-57F1-BEA6-949E-6B95EF682B0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 err="1"/>
              <a:t>Jamovi</a:t>
            </a:r>
            <a:endParaRPr lang="fr-FR" dirty="0"/>
          </a:p>
        </p:txBody>
      </p:sp>
      <p:sp>
        <p:nvSpPr>
          <p:cNvPr id="4" name="Espace réservé du texte 3">
            <a:extLst>
              <a:ext uri="{FF2B5EF4-FFF2-40B4-BE49-F238E27FC236}">
                <a16:creationId xmlns:a16="http://schemas.microsoft.com/office/drawing/2014/main" id="{42EB6BD8-0E0F-780A-C133-648343042B8F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764933436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u contenu 1">
            <a:extLst>
              <a:ext uri="{FF2B5EF4-FFF2-40B4-BE49-F238E27FC236}">
                <a16:creationId xmlns:a16="http://schemas.microsoft.com/office/drawing/2014/main" id="{B9998726-A473-73CD-EBCF-6CDBE6CB2AB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buFont typeface="Wingdings" pitchFamily="2" charset="2"/>
              <a:buChar char="§"/>
            </a:pPr>
            <a:r>
              <a:rPr lang="fr-FR" dirty="0"/>
              <a:t> Installer </a:t>
            </a:r>
            <a:r>
              <a:rPr lang="fr-FR" dirty="0" err="1"/>
              <a:t>Jamovi</a:t>
            </a:r>
            <a:r>
              <a:rPr lang="fr-FR" dirty="0"/>
              <a:t> (si pas déjà fait)</a:t>
            </a:r>
          </a:p>
          <a:p>
            <a:pPr>
              <a:buFont typeface="Wingdings" pitchFamily="2" charset="2"/>
              <a:buChar char="§"/>
            </a:pPr>
            <a:r>
              <a:rPr lang="fr-FR" dirty="0"/>
              <a:t> Crier (pas trop fort) s’il y a un problème</a:t>
            </a:r>
          </a:p>
          <a:p>
            <a:pPr>
              <a:buFont typeface="Wingdings" pitchFamily="2" charset="2"/>
              <a:buChar char="§"/>
            </a:pPr>
            <a:r>
              <a:rPr lang="fr-FR" dirty="0"/>
              <a:t> Aller dans le </a:t>
            </a:r>
            <a:r>
              <a:rPr lang="fr-FR" dirty="0" err="1"/>
              <a:t>moodle</a:t>
            </a:r>
            <a:endParaRPr lang="fr-FR" dirty="0"/>
          </a:p>
          <a:p>
            <a:pPr>
              <a:buFont typeface="Wingdings" pitchFamily="2" charset="2"/>
              <a:buChar char="§"/>
            </a:pPr>
            <a:r>
              <a:rPr lang="fr-FR" dirty="0"/>
              <a:t> Récupérer le fichier contenu dans la séance 1</a:t>
            </a:r>
          </a:p>
          <a:p>
            <a:pPr>
              <a:buFont typeface="Wingdings" pitchFamily="2" charset="2"/>
              <a:buChar char="§"/>
            </a:pPr>
            <a:r>
              <a:rPr lang="fr-FR" dirty="0"/>
              <a:t> Faire des premiers tests</a:t>
            </a:r>
          </a:p>
          <a:p>
            <a:pPr lvl="1">
              <a:buFont typeface="Wingdings" pitchFamily="2" charset="2"/>
              <a:buChar char="§"/>
            </a:pPr>
            <a:r>
              <a:rPr lang="fr-FR" dirty="0"/>
              <a:t>Ouvrir le jeu de données</a:t>
            </a:r>
          </a:p>
          <a:p>
            <a:pPr lvl="1">
              <a:buFont typeface="Wingdings" pitchFamily="2" charset="2"/>
              <a:buChar char="§"/>
            </a:pPr>
            <a:r>
              <a:rPr lang="fr-FR" dirty="0"/>
              <a:t>Prise en main</a:t>
            </a:r>
          </a:p>
          <a:p>
            <a:pPr lvl="1">
              <a:buFont typeface="Wingdings" pitchFamily="2" charset="2"/>
              <a:buChar char="§"/>
            </a:pPr>
            <a:r>
              <a:rPr lang="fr-FR" dirty="0"/>
              <a:t>« essayer des machins » (terme scientifique de #</a:t>
            </a:r>
            <a:r>
              <a:rPr lang="fr-FR" dirty="0" err="1"/>
              <a:t>dataanalyst</a:t>
            </a:r>
            <a:r>
              <a:rPr lang="fr-FR" dirty="0"/>
              <a:t>)</a:t>
            </a:r>
          </a:p>
          <a:p>
            <a:endParaRPr lang="fr-FR" dirty="0"/>
          </a:p>
        </p:txBody>
      </p:sp>
      <p:sp>
        <p:nvSpPr>
          <p:cNvPr id="3" name="Titre 2">
            <a:extLst>
              <a:ext uri="{FF2B5EF4-FFF2-40B4-BE49-F238E27FC236}">
                <a16:creationId xmlns:a16="http://schemas.microsoft.com/office/drawing/2014/main" id="{F231E127-4583-0777-D330-6BB367EB05C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Activité : crash test </a:t>
            </a:r>
            <a:r>
              <a:rPr lang="fr-FR" dirty="0" err="1"/>
              <a:t>Jamovi</a:t>
            </a:r>
            <a:endParaRPr lang="fr-FR" dirty="0"/>
          </a:p>
        </p:txBody>
      </p:sp>
      <p:sp>
        <p:nvSpPr>
          <p:cNvPr id="4" name="Espace réservé du texte 3">
            <a:extLst>
              <a:ext uri="{FF2B5EF4-FFF2-40B4-BE49-F238E27FC236}">
                <a16:creationId xmlns:a16="http://schemas.microsoft.com/office/drawing/2014/main" id="{23FC998B-8B53-EA64-E41C-DACAE83C30BB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433265541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u contenu 1">
            <a:extLst>
              <a:ext uri="{FF2B5EF4-FFF2-40B4-BE49-F238E27FC236}">
                <a16:creationId xmlns:a16="http://schemas.microsoft.com/office/drawing/2014/main" id="{B5CD6CA9-8903-7AF0-308C-7D0112059C1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FR" dirty="0"/>
              <a:t>A FAIRE AVANT LA SEANCE 2 :</a:t>
            </a:r>
          </a:p>
          <a:p>
            <a:r>
              <a:rPr lang="fr-FR" dirty="0"/>
              <a:t>Les </a:t>
            </a:r>
            <a:r>
              <a:rPr lang="fr-FR" b="1" dirty="0"/>
              <a:t>groupes</a:t>
            </a:r>
            <a:r>
              <a:rPr lang="fr-FR" dirty="0"/>
              <a:t> ‘4 pages’ sont </a:t>
            </a:r>
            <a:r>
              <a:rPr lang="fr-FR" b="1" dirty="0"/>
              <a:t>constitués</a:t>
            </a:r>
            <a:r>
              <a:rPr lang="fr-FR" dirty="0"/>
              <a:t> (cf. sur </a:t>
            </a:r>
            <a:r>
              <a:rPr lang="fr-FR" b="1" dirty="0" err="1"/>
              <a:t>moodle</a:t>
            </a:r>
            <a:r>
              <a:rPr lang="fr-FR" dirty="0"/>
              <a:t> dans séance 1) + ils ont réfléchi à leur idée de thème et le jeu de données a priori utilisé (tiré de </a:t>
            </a:r>
            <a:r>
              <a:rPr lang="fr-FR" dirty="0" err="1"/>
              <a:t>moodle</a:t>
            </a:r>
            <a:r>
              <a:rPr lang="fr-FR" dirty="0"/>
              <a:t>).</a:t>
            </a:r>
          </a:p>
          <a:p>
            <a:endParaRPr lang="fr-FR" dirty="0"/>
          </a:p>
          <a:p>
            <a:r>
              <a:rPr lang="fr-FR" b="1" dirty="0"/>
              <a:t>Lire un 4 pages </a:t>
            </a:r>
            <a:r>
              <a:rPr lang="fr-FR" dirty="0"/>
              <a:t>(notamment si pas fait pendant la séance)</a:t>
            </a:r>
          </a:p>
          <a:p>
            <a:endParaRPr lang="fr-FR" dirty="0"/>
          </a:p>
          <a:p>
            <a:endParaRPr lang="fr-FR" dirty="0"/>
          </a:p>
        </p:txBody>
      </p:sp>
      <p:sp>
        <p:nvSpPr>
          <p:cNvPr id="3" name="Titre 2">
            <a:extLst>
              <a:ext uri="{FF2B5EF4-FFF2-40B4-BE49-F238E27FC236}">
                <a16:creationId xmlns:a16="http://schemas.microsoft.com/office/drawing/2014/main" id="{A9BFE195-F910-390F-D29E-764076CFC23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To do : </a:t>
            </a:r>
          </a:p>
        </p:txBody>
      </p:sp>
      <p:sp>
        <p:nvSpPr>
          <p:cNvPr id="4" name="Espace réservé du texte 3">
            <a:extLst>
              <a:ext uri="{FF2B5EF4-FFF2-40B4-BE49-F238E27FC236}">
                <a16:creationId xmlns:a16="http://schemas.microsoft.com/office/drawing/2014/main" id="{BB386DB0-32AB-48D4-3170-9D52D04ED6AB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629371694"/>
      </p:ext>
    </p:extLst>
  </p:cSld>
  <p:clrMapOvr>
    <a:masterClrMapping/>
  </p:clrMapOvr>
</p:sld>
</file>

<file path=ppt/theme/theme1.xml><?xml version="1.0" encoding="utf-8"?>
<a:theme xmlns:a="http://schemas.openxmlformats.org/drawingml/2006/main" name="Scpobdx">
  <a:themeElements>
    <a:clrScheme name="Personnalisé 2">
      <a:dk1>
        <a:sysClr val="windowText" lastClr="000000"/>
      </a:dk1>
      <a:lt1>
        <a:sysClr val="window" lastClr="FFFFFF"/>
      </a:lt1>
      <a:dk2>
        <a:srgbClr val="039FA0"/>
      </a:dk2>
      <a:lt2>
        <a:srgbClr val="E2DFCC"/>
      </a:lt2>
      <a:accent1>
        <a:srgbClr val="FF0000"/>
      </a:accent1>
      <a:accent2>
        <a:srgbClr val="C00000"/>
      </a:accent2>
      <a:accent3>
        <a:srgbClr val="FCAE3B"/>
      </a:accent3>
      <a:accent4>
        <a:srgbClr val="000000"/>
      </a:accent4>
      <a:accent5>
        <a:srgbClr val="002060"/>
      </a:accent5>
      <a:accent6>
        <a:srgbClr val="0070C0"/>
      </a:accent6>
      <a:hlink>
        <a:srgbClr val="44C1A3"/>
      </a:hlink>
      <a:folHlink>
        <a:srgbClr val="44C1A3"/>
      </a:folHlink>
    </a:clrScheme>
    <a:fontScheme name="Personnalisé 1">
      <a:majorFont>
        <a:latin typeface="Bitter"/>
        <a:ea typeface=""/>
        <a:cs typeface=""/>
      </a:majorFont>
      <a:minorFont>
        <a:latin typeface="Myriad Pro"/>
        <a:ea typeface=""/>
        <a:cs typeface=""/>
      </a:minorFont>
    </a:fontScheme>
    <a:fmtScheme name="Rétrospective">
      <a:fillStyleLst>
        <a:solidFill>
          <a:schemeClr val="phClr"/>
        </a:solidFill>
        <a:gradFill rotWithShape="1">
          <a:gsLst>
            <a:gs pos="0">
              <a:schemeClr val="phClr">
                <a:tint val="65000"/>
                <a:shade val="92000"/>
                <a:satMod val="130000"/>
              </a:schemeClr>
            </a:gs>
            <a:gs pos="45000">
              <a:schemeClr val="phClr">
                <a:tint val="60000"/>
                <a:shade val="99000"/>
                <a:satMod val="120000"/>
              </a:schemeClr>
            </a:gs>
            <a:gs pos="100000">
              <a:schemeClr val="phClr">
                <a:tint val="55000"/>
                <a:satMod val="140000"/>
              </a:schemeClr>
            </a:gs>
          </a:gsLst>
          <a:path path="circle">
            <a:fillToRect l="100000" t="100000" r="100000" b="100000"/>
          </a:path>
        </a:gradFill>
        <a:gradFill rotWithShape="1">
          <a:gsLst>
            <a:gs pos="0">
              <a:schemeClr val="phClr">
                <a:shade val="85000"/>
                <a:satMod val="130000"/>
              </a:schemeClr>
            </a:gs>
            <a:gs pos="34000">
              <a:schemeClr val="phClr">
                <a:shade val="87000"/>
                <a:satMod val="125000"/>
              </a:schemeClr>
            </a:gs>
            <a:gs pos="70000">
              <a:schemeClr val="phClr">
                <a:tint val="100000"/>
                <a:shade val="90000"/>
                <a:satMod val="130000"/>
              </a:schemeClr>
            </a:gs>
            <a:gs pos="100000">
              <a:schemeClr val="phClr">
                <a:tint val="100000"/>
                <a:shade val="100000"/>
                <a:satMod val="110000"/>
              </a:schemeClr>
            </a:gs>
          </a:gsLst>
          <a:path path="circle">
            <a:fillToRect l="100000" t="100000" r="100000" b="100000"/>
          </a:path>
        </a:gradFill>
      </a:fillStyleLst>
      <a:lnStyleLst>
        <a:ln w="12700" cap="flat" cmpd="sng" algn="ctr">
          <a:solidFill>
            <a:schemeClr val="phClr"/>
          </a:solidFill>
          <a:prstDash val="solid"/>
        </a:ln>
        <a:ln w="15875" cap="flat" cmpd="sng" algn="ctr">
          <a:solidFill>
            <a:schemeClr val="phClr"/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2700000" algn="br" rotWithShape="0">
              <a:srgbClr val="000000">
                <a:alpha val="60000"/>
              </a:srgbClr>
            </a:outerShdw>
          </a:effectLst>
        </a:effectStyle>
        <a:effectStyle>
          <a:effectLst>
            <a:outerShdw blurRad="44450" dist="25400" dir="2700000" algn="br" rotWithShape="0">
              <a:srgbClr val="000000">
                <a:alpha val="60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9800000"/>
            </a:lightRig>
          </a:scene3d>
          <a:sp3d prstMaterial="flat">
            <a:bevelT w="25400" h="31750"/>
          </a:sp3d>
        </a:effectStyle>
      </a:effectStyleLst>
      <a:bgFillStyleLst>
        <a:solidFill>
          <a:schemeClr val="phClr"/>
        </a:solidFill>
        <a:solidFill>
          <a:schemeClr val="phClr">
            <a:tint val="90000"/>
            <a:shade val="97000"/>
            <a:satMod val="130000"/>
          </a:schemeClr>
        </a:solidFill>
        <a:gradFill rotWithShape="1">
          <a:gsLst>
            <a:gs pos="0">
              <a:schemeClr val="phClr">
                <a:tint val="96000"/>
                <a:shade val="99000"/>
                <a:satMod val="140000"/>
              </a:schemeClr>
            </a:gs>
            <a:gs pos="65000">
              <a:schemeClr val="phClr">
                <a:tint val="100000"/>
                <a:shade val="80000"/>
                <a:satMod val="130000"/>
              </a:schemeClr>
            </a:gs>
            <a:gs pos="100000">
              <a:schemeClr val="phClr">
                <a:tint val="100000"/>
                <a:shade val="48000"/>
                <a:satMod val="120000"/>
              </a:schemeClr>
            </a:gs>
          </a:gsLst>
          <a:lin ang="162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Scpobdx" id="{624C7554-4FFD-964C-9987-67702766A9BB}" vid="{54BDD8AB-0C7C-AC43-A001-E078F96B8E5E}"/>
    </a:ext>
  </a:extLst>
</a:theme>
</file>

<file path=ppt/theme/theme2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420</TotalTime>
  <Words>1450</Words>
  <Application>Microsoft Macintosh PowerPoint</Application>
  <PresentationFormat>Grand écran</PresentationFormat>
  <Paragraphs>130</Paragraphs>
  <Slides>15</Slides>
  <Notes>0</Notes>
  <HiddenSlides>0</HiddenSlides>
  <MMClips>0</MMClips>
  <ScaleCrop>false</ScaleCrop>
  <HeadingPairs>
    <vt:vector size="6" baseType="variant">
      <vt:variant>
        <vt:lpstr>Polices utilisées</vt:lpstr>
      </vt:variant>
      <vt:variant>
        <vt:i4>9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15</vt:i4>
      </vt:variant>
    </vt:vector>
  </HeadingPairs>
  <TitlesOfParts>
    <vt:vector size="25" baseType="lpstr">
      <vt:lpstr>Aptos</vt:lpstr>
      <vt:lpstr>Arial</vt:lpstr>
      <vt:lpstr>Bitter</vt:lpstr>
      <vt:lpstr>Calibri</vt:lpstr>
      <vt:lpstr>Calibri Light</vt:lpstr>
      <vt:lpstr>Myriad Pro</vt:lpstr>
      <vt:lpstr>Myriad Pro Light</vt:lpstr>
      <vt:lpstr>Times New Roman</vt:lpstr>
      <vt:lpstr>Wingdings</vt:lpstr>
      <vt:lpstr>Scpobdx</vt:lpstr>
      <vt:lpstr>Séance 1. Séance introductive </vt:lpstr>
      <vt:lpstr>Objectifs de la séance 1</vt:lpstr>
      <vt:lpstr>Objectifs du cours</vt:lpstr>
      <vt:lpstr>Présentation PowerPoint</vt:lpstr>
      <vt:lpstr>Déroulement des séances</vt:lpstr>
      <vt:lpstr>Évaluation : modalités et attendus</vt:lpstr>
      <vt:lpstr>4 pages ?</vt:lpstr>
      <vt:lpstr>Guide : 1. Objectifs du "4 pages" </vt:lpstr>
      <vt:lpstr>Guide : 2. Format et structure générale du "4 pages"</vt:lpstr>
      <vt:lpstr>Rendus intermédiaires</vt:lpstr>
      <vt:lpstr>Date des rendus</vt:lpstr>
      <vt:lpstr>Activité : lecture 4 pages - selon le temps</vt:lpstr>
      <vt:lpstr>Jamovi</vt:lpstr>
      <vt:lpstr>Activité : crash test Jamovi</vt:lpstr>
      <vt:lpstr>To do : 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Données : Enjeux, collecte et analyse S2 - Administration de la preuve (données quantitatives)</dc:title>
  <dc:creator>Léo Mignot</dc:creator>
  <cp:lastModifiedBy>Léo Mignot</cp:lastModifiedBy>
  <cp:revision>21</cp:revision>
  <dcterms:created xsi:type="dcterms:W3CDTF">2024-01-15T14:35:58Z</dcterms:created>
  <dcterms:modified xsi:type="dcterms:W3CDTF">2026-01-06T08:32:33Z</dcterms:modified>
</cp:coreProperties>
</file>